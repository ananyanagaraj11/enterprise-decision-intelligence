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3" r:id="rId9"/>
    <p:sldId id="264" r:id="rId10"/>
    <p:sldId id="265" r:id="rId11"/>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B6A2883-0DED-4C82-9F21-219E68DDDF31}" styleName="补充样式14">
    <a:wholeTbl>
      <a:tcTxStyle>
        <a:fontRef idx="none">
          <a:srgbClr val="08090C"/>
        </a:fontRef>
      </a:tcTxStyle>
      <a:tcStyle>
        <a:tcBdr>
          <a:left>
            <a:ln w="9525" cmpd="dbl">
              <a:solidFill>
                <a:schemeClr val="dk1"/>
              </a:solidFill>
              <a:prstDash val="solid"/>
            </a:ln>
          </a:left>
          <a:right>
            <a:ln w="9525" cmpd="dbl">
              <a:solidFill>
                <a:schemeClr val="dk1"/>
              </a:solidFill>
              <a:prstDash val="solid"/>
            </a:ln>
          </a:right>
          <a:top>
            <a:ln w="9525" cmpd="dbl">
              <a:solidFill>
                <a:schemeClr val="dk1"/>
              </a:solidFill>
              <a:prstDash val="solid"/>
            </a:ln>
          </a:top>
          <a:bottom>
            <a:ln w="9525" cmpd="dbl">
              <a:solidFill>
                <a:schemeClr val="dk1"/>
              </a:solidFill>
              <a:prstDash val="solid"/>
            </a:ln>
          </a:bottom>
          <a:insideH>
            <a:ln w="9525" cmpd="sng">
              <a:solidFill>
                <a:schemeClr val="dk1">
                  <a:lumMod val="40001"/>
                  <a:lumOff val="59999"/>
                </a:schemeClr>
              </a:solidFill>
              <a:prstDash val="solid"/>
            </a:ln>
          </a:insideH>
          <a:insideV>
            <a:ln w="9525" cmpd="sng">
              <a:solidFill>
                <a:schemeClr val="dk1">
                  <a:lumMod val="40001"/>
                  <a:lumOff val="59999"/>
                </a:schemeClr>
              </a:solidFill>
              <a:prstDash val="solid"/>
            </a:ln>
          </a:insideV>
        </a:tcBdr>
        <a:fill>
          <a:solidFill>
            <a:srgbClr val="FFFFFF"/>
          </a:solidFill>
        </a:fill>
      </a:tcStyle>
    </a:wholeTbl>
    <a:band2H>
      <a:tcStyle>
        <a:tcBdr/>
        <a:fill>
          <a:solidFill>
            <a:schemeClr val="dk1">
              <a:lumMod val="10001"/>
              <a:lumOff val="89999"/>
            </a:schemeClr>
          </a:solidFill>
        </a:fill>
      </a:tcStyle>
    </a:band2H>
    <a:band1V>
      <a:tcStyle>
        <a:tcBdr/>
        <a:fill>
          <a:solidFill>
            <a:schemeClr val="dk1">
              <a:lumMod val="10001"/>
              <a:lumOff val="89999"/>
            </a:schemeClr>
          </a:solidFill>
        </a:fill>
      </a:tcStyle>
    </a:band1V>
    <a:lastCol>
      <a:tcTxStyle b="on">
        <a:fontRef idx="none">
          <a:srgbClr val="08090C"/>
        </a:fontRef>
      </a:tcTxStyle>
      <a:tcStyle>
        <a:tcBdr/>
        <a:fill>
          <a:solidFill>
            <a:schemeClr val="dk1">
              <a:lumMod val="20002"/>
              <a:lumOff val="79998"/>
            </a:schemeClr>
          </a:solidFill>
        </a:fill>
      </a:tcStyle>
    </a:lastCol>
    <a:firstCol>
      <a:tcTxStyle b="on">
        <a:fontRef idx="none">
          <a:srgbClr val="08090C"/>
        </a:fontRef>
      </a:tcTxStyle>
      <a:tcStyle>
        <a:tcBdr/>
        <a:fill>
          <a:solidFill>
            <a:schemeClr val="dk1">
              <a:lumMod val="20002"/>
              <a:lumOff val="79998"/>
            </a:schemeClr>
          </a:solidFill>
        </a:fill>
      </a:tcStyle>
    </a:firstCol>
    <a:lastRow>
      <a:tcTxStyle b="on">
        <a:fontRef idx="none">
          <a:schemeClr val="dk1"/>
        </a:fontRef>
      </a:tcTxStyle>
      <a:tcStyle>
        <a:tcBdr/>
        <a:fill>
          <a:solidFill>
            <a:srgbClr val="FFFFFF"/>
          </a:solidFill>
        </a:fill>
      </a:tcStyle>
    </a:lastRow>
    <a:seCell>
      <a:tcTxStyle b="on">
        <a:fontRef idx="none">
          <a:schemeClr val="dk1"/>
        </a:fontRef>
      </a:tcTxStyle>
      <a:tcStyle>
        <a:tcBdr/>
        <a:fill>
          <a:solidFill>
            <a:srgbClr val="FFFFFF"/>
          </a:solidFill>
        </a:fill>
      </a:tcStyle>
    </a:seCell>
    <a:swCell>
      <a:tcTxStyle b="on">
        <a:fontRef idx="none">
          <a:schemeClr val="dk1"/>
        </a:fontRef>
      </a:tcTxStyle>
      <a:tcStyle>
        <a:tcBdr/>
        <a:fill>
          <a:solidFill>
            <a:srgbClr val="FFFFFF"/>
          </a:solidFill>
        </a:fill>
      </a:tcStyle>
    </a:swCell>
    <a:firstRow>
      <a:tcTxStyle b="on">
        <a:fontRef idx="none">
          <a:schemeClr val="dk1"/>
        </a:fontRef>
      </a:tcTxStyle>
      <a:tcStyle>
        <a:tcBdr/>
      </a:tcStyle>
    </a:firstRow>
    <a:neCell>
      <a:tcTxStyle b="on">
        <a:fontRef idx="none">
          <a:schemeClr val="dk1"/>
        </a:fontRef>
      </a:tcTxStyle>
      <a:tcStyle>
        <a:tcBdr/>
        <a:fill>
          <a:solidFill>
            <a:srgbClr val="FFFFFF"/>
          </a:solidFill>
        </a:fill>
      </a:tcStyle>
    </a:neCell>
    <a:nwCell>
      <a:tcTxStyle b="on">
        <a:fontRef idx="none">
          <a:schemeClr val="dk1"/>
        </a:fontRef>
      </a:tcTxStyle>
      <a:tcStyle>
        <a:tcBdr/>
        <a:fill>
          <a:solidFill>
            <a:srgbClr val="FFFFFF"/>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95"/>
        <p:guide pos="38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6.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 Box 5"/>
          <p:cNvSpPr txBox="1"/>
          <p:nvPr/>
        </p:nvSpPr>
        <p:spPr>
          <a:xfrm>
            <a:off x="635" y="576580"/>
            <a:ext cx="12191365" cy="948690"/>
          </a:xfrm>
          <a:prstGeom prst="rect">
            <a:avLst/>
          </a:prstGeom>
          <a:noFill/>
        </p:spPr>
        <p:txBody>
          <a:bodyPr wrap="square" rtlCol="0">
            <a:noAutofit/>
          </a:bodyPr>
          <a:p>
            <a:pPr algn="ctr"/>
            <a:r>
              <a:rPr lang="en-US" altLang="en-US" sz="20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AUTONOMOUS ENTERPRISE DECISION INTELLIGENCE USING AGENTIC AI</a:t>
            </a:r>
            <a:endParaRPr lang="en-US" altLang="en-US" sz="20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p:txBody>
      </p:sp>
      <p:sp>
        <p:nvSpPr>
          <p:cNvPr id="7" name="Text Box 6"/>
          <p:cNvSpPr txBox="1"/>
          <p:nvPr/>
        </p:nvSpPr>
        <p:spPr>
          <a:xfrm>
            <a:off x="391795" y="1647190"/>
            <a:ext cx="6275705" cy="4282440"/>
          </a:xfrm>
          <a:prstGeom prst="rect">
            <a:avLst/>
          </a:prstGeom>
          <a:noFill/>
        </p:spPr>
        <p:txBody>
          <a:bodyPr wrap="square" rtlCol="0">
            <a:noAutofit/>
          </a:bodyPr>
          <a:p>
            <a:pPr algn="just" rtl="0" eaLnBrk="0">
              <a:lnSpc>
                <a:spcPct val="78000"/>
              </a:lnSpc>
            </a:pPr>
            <a:endParaRPr kern="0" dirty="0">
              <a:solidFill>
                <a:srgbClr val="000000">
                  <a:alpha val="100000"/>
                </a:srgbClr>
              </a:solidFill>
              <a:latin typeface="Times New Roman" panose="02020603050405020304"/>
              <a:ea typeface="Times New Roman" panose="02020603050405020304"/>
              <a:cs typeface="Times New Roman" panose="02020603050405020304"/>
              <a:sym typeface="+mn-ea"/>
            </a:endParaRPr>
          </a:p>
          <a:p>
            <a:pPr indent="0" algn="just" rtl="0" eaLnBrk="0">
              <a:lnSpc>
                <a:spcPct val="108000"/>
              </a:lnSpc>
              <a:buNone/>
            </a:pPr>
            <a:r>
              <a:rPr sz="2000"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Abhijnya Konanduru Gurumurthy (SUID: </a:t>
            </a:r>
            <a:r>
              <a:rPr sz="2000" kern="0" spc="-1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231885826)</a:t>
            </a:r>
            <a:endParaRPr sz="2000" kern="0" spc="-1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endParaRPr>
          </a:p>
          <a:p>
            <a:pPr indent="0" algn="just" rtl="0" eaLnBrk="0">
              <a:lnSpc>
                <a:spcPct val="108000"/>
              </a:lnSpc>
              <a:buNone/>
            </a:pPr>
            <a:r>
              <a:rPr sz="2000"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Amulya Naga Raj (SUID: </a:t>
            </a:r>
            <a:r>
              <a:rPr sz="2000" kern="0" spc="-1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286373513)</a:t>
            </a:r>
            <a:endParaRPr sz="2000" kern="0" spc="-1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endParaRPr>
          </a:p>
          <a:p>
            <a:pPr indent="0" algn="just" rtl="0" eaLnBrk="0">
              <a:lnSpc>
                <a:spcPct val="108000"/>
              </a:lnSpc>
              <a:buNone/>
            </a:pPr>
            <a:r>
              <a:rPr sz="2000"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Ananya Naga Raj (SUID: </a:t>
            </a:r>
            <a:r>
              <a:rPr sz="2000" kern="0" spc="-1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214585923)</a:t>
            </a:r>
            <a:endParaRPr sz="2000" kern="0" spc="-1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endParaRPr>
          </a:p>
          <a:p>
            <a:pPr indent="0" algn="just" rtl="0" eaLnBrk="0">
              <a:lnSpc>
                <a:spcPct val="108000"/>
              </a:lnSpc>
              <a:buNone/>
            </a:pPr>
            <a:r>
              <a:rPr lang="en-US" altLang="en-US" sz="2000" dirty="0">
                <a:latin typeface="Times New Roman" panose="02020603050405020304" charset="0"/>
                <a:ea typeface="Times New Roman" panose="02020603050405020304"/>
                <a:cs typeface="Times New Roman" panose="02020603050405020304" charset="0"/>
              </a:rPr>
              <a:t>Sunil Hanumanthegowda Kote (SUID: 324362001)</a:t>
            </a:r>
            <a:endParaRPr lang="en-US" altLang="en-US" sz="2000" dirty="0">
              <a:latin typeface="Times New Roman" panose="02020603050405020304" charset="0"/>
              <a:ea typeface="Times New Roman" panose="02020603050405020304"/>
              <a:cs typeface="Times New Roman" panose="02020603050405020304" charset="0"/>
            </a:endParaRPr>
          </a:p>
          <a:p>
            <a:pPr algn="just" rtl="0" eaLnBrk="0">
              <a:lnSpc>
                <a:spcPct val="110000"/>
              </a:lnSpc>
            </a:pPr>
            <a:endParaRPr sz="2000" dirty="0">
              <a:latin typeface="Times New Roman" panose="02020603050405020304" charset="0"/>
              <a:ea typeface="Arial" panose="020B0604020202020204"/>
              <a:cs typeface="Times New Roman" panose="02020603050405020304" charset="0"/>
            </a:endParaRPr>
          </a:p>
          <a:p>
            <a:pPr marL="12700" algn="just" rtl="0" eaLnBrk="0">
              <a:lnSpc>
                <a:spcPct val="71000"/>
              </a:lnSpc>
              <a:spcBef>
                <a:spcPts val="370"/>
              </a:spcBef>
            </a:pPr>
            <a:r>
              <a:rPr sz="2000" b="1"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Date:</a:t>
            </a:r>
            <a:r>
              <a:rPr sz="2000"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 </a:t>
            </a:r>
            <a:r>
              <a:rPr lang="en-US" sz="2000"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April 2026</a:t>
            </a:r>
            <a:endParaRPr lang="en-US" sz="2000"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endParaRPr>
          </a:p>
          <a:p>
            <a:pPr marL="12700" algn="just" rtl="0" eaLnBrk="0">
              <a:lnSpc>
                <a:spcPct val="71000"/>
              </a:lnSpc>
              <a:spcBef>
                <a:spcPts val="370"/>
              </a:spcBef>
            </a:pPr>
            <a:endParaRPr sz="2000" dirty="0">
              <a:latin typeface="Times New Roman" panose="02020603050405020304" charset="0"/>
              <a:ea typeface="Arial" panose="020B0604020202020204"/>
              <a:cs typeface="Times New Roman" panose="02020603050405020304" charset="0"/>
            </a:endParaRPr>
          </a:p>
          <a:p>
            <a:pPr marL="15875" algn="just" rtl="0" eaLnBrk="0">
              <a:lnSpc>
                <a:spcPct val="78000"/>
              </a:lnSpc>
              <a:spcBef>
                <a:spcPts val="365"/>
              </a:spcBef>
            </a:pPr>
            <a:r>
              <a:rPr sz="2000" b="1"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Course: </a:t>
            </a:r>
            <a:r>
              <a:rPr lang="en-US" altLang="en-US" sz="2000" dirty="0">
                <a:latin typeface="Times New Roman" panose="02020603050405020304" charset="0"/>
                <a:ea typeface="Times New Roman" panose="02020603050405020304"/>
                <a:cs typeface="Times New Roman" panose="02020603050405020304" charset="0"/>
              </a:rPr>
              <a:t>CIS 600 - Applied Agentic AI Systems</a:t>
            </a:r>
            <a:endParaRPr lang="en-US" altLang="en-US" sz="2000" dirty="0">
              <a:latin typeface="Times New Roman" panose="02020603050405020304" charset="0"/>
              <a:ea typeface="Times New Roman" panose="02020603050405020304"/>
              <a:cs typeface="Times New Roman" panose="02020603050405020304" charset="0"/>
            </a:endParaRPr>
          </a:p>
          <a:p>
            <a:pPr algn="just" rtl="0" eaLnBrk="0">
              <a:lnSpc>
                <a:spcPct val="110000"/>
              </a:lnSpc>
            </a:pPr>
            <a:endParaRPr sz="2000" dirty="0">
              <a:latin typeface="Times New Roman" panose="02020603050405020304" charset="0"/>
              <a:ea typeface="Arial" panose="020B0604020202020204"/>
              <a:cs typeface="Times New Roman" panose="02020603050405020304" charset="0"/>
            </a:endParaRPr>
          </a:p>
          <a:p>
            <a:pPr marL="12700" algn="just" rtl="0" eaLnBrk="0">
              <a:lnSpc>
                <a:spcPts val="940"/>
              </a:lnSpc>
              <a:spcBef>
                <a:spcPts val="5"/>
              </a:spcBef>
            </a:pPr>
            <a:r>
              <a:rPr sz="2000" b="1"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Instructor: </a:t>
            </a:r>
            <a:r>
              <a:rPr sz="2000" kern="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Prof. Saman Kum</a:t>
            </a:r>
            <a:r>
              <a:rPr sz="2000" kern="0" spc="-10" dirty="0">
                <a:solidFill>
                  <a:srgbClr val="000000">
                    <a:alpha val="100000"/>
                  </a:srgbClr>
                </a:solidFill>
                <a:latin typeface="Times New Roman" panose="02020603050405020304" charset="0"/>
                <a:ea typeface="Times New Roman" panose="02020603050405020304"/>
                <a:cs typeface="Times New Roman" panose="02020603050405020304" charset="0"/>
                <a:sym typeface="+mn-ea"/>
              </a:rPr>
              <a:t>arawadu</a:t>
            </a:r>
            <a:endParaRPr sz="2000" dirty="0">
              <a:latin typeface="Times New Roman" panose="02020603050405020304" charset="0"/>
              <a:ea typeface="Times New Roman" panose="02020603050405020304"/>
              <a:cs typeface="Times New Roman" panose="02020603050405020304" charset="0"/>
            </a:endParaRPr>
          </a:p>
          <a:p>
            <a:pPr algn="just" rtl="0" eaLnBrk="0"/>
            <a:endParaRPr lang="en-US" sz="2000">
              <a:latin typeface="Times New Roman" panose="02020603050405020304" charset="0"/>
              <a:cs typeface="Times New Roman" panose="02020603050405020304" charset="0"/>
            </a:endParaRPr>
          </a:p>
        </p:txBody>
      </p:sp>
      <p:sp>
        <p:nvSpPr>
          <p:cNvPr id="9" name="Text Box 8"/>
          <p:cNvSpPr txBox="1"/>
          <p:nvPr/>
        </p:nvSpPr>
        <p:spPr>
          <a:xfrm>
            <a:off x="-635" y="1039495"/>
            <a:ext cx="12192000" cy="740410"/>
          </a:xfrm>
          <a:prstGeom prst="rect">
            <a:avLst/>
          </a:prstGeom>
          <a:noFill/>
        </p:spPr>
        <p:txBody>
          <a:bodyPr wrap="square" rtlCol="0">
            <a:noAutofit/>
          </a:bodyPr>
          <a:p>
            <a:pPr algn="ctr"/>
            <a:r>
              <a:rPr lang="en-US" altLang="en-US">
                <a:latin typeface="Times New Roman" panose="02020603050405020304" charset="0"/>
                <a:cs typeface="Times New Roman" panose="02020603050405020304" charset="0"/>
              </a:rPr>
              <a:t>A Coordinated Multi-Agent Framework for Intelligent Enterprise Decision Making</a:t>
            </a:r>
            <a:endParaRPr lang="en-US" altLang="en-US">
              <a:latin typeface="Times New Roman" panose="02020603050405020304" charset="0"/>
              <a:cs typeface="Times New Roman" panose="02020603050405020304" charset="0"/>
            </a:endParaRPr>
          </a:p>
        </p:txBody>
      </p:sp>
      <p:sp>
        <p:nvSpPr>
          <p:cNvPr id="21" name="Text Box 20"/>
          <p:cNvSpPr txBox="1"/>
          <p:nvPr/>
        </p:nvSpPr>
        <p:spPr>
          <a:xfrm>
            <a:off x="7239000" y="1099185"/>
            <a:ext cx="4381500" cy="2329815"/>
          </a:xfrm>
          <a:prstGeom prst="rect">
            <a:avLst/>
          </a:prstGeom>
          <a:noFill/>
        </p:spPr>
        <p:txBody>
          <a:bodyPr wrap="square" rtlCol="0">
            <a:noAutofit/>
          </a:bodyPr>
          <a:p>
            <a:endParaRPr lang="en-US"/>
          </a:p>
        </p:txBody>
      </p:sp>
      <p:pic>
        <p:nvPicPr>
          <p:cNvPr id="23" name="Picture 22" descr="ChatGPT Image Apr 12, 2026, 11_29_44 AM"/>
          <p:cNvPicPr>
            <a:picLocks noChangeAspect="1"/>
          </p:cNvPicPr>
          <p:nvPr/>
        </p:nvPicPr>
        <p:blipFill>
          <a:blip r:embed="rId1"/>
          <a:stretch>
            <a:fillRect/>
          </a:stretch>
        </p:blipFill>
        <p:spPr>
          <a:xfrm>
            <a:off x="6515100" y="1913255"/>
            <a:ext cx="5105400" cy="3556635"/>
          </a:xfrm>
          <a:prstGeom prst="rect">
            <a:avLst/>
          </a:prstGeom>
          <a:ln>
            <a:gradFill>
              <a:gsLst>
                <a:gs pos="94000">
                  <a:srgbClr val="3E6AC1">
                    <a:alpha val="100000"/>
                  </a:srgbClr>
                </a:gs>
                <a:gs pos="0">
                  <a:schemeClr val="accent1">
                    <a:lumMod val="25000"/>
                    <a:lumOff val="75000"/>
                  </a:schemeClr>
                </a:gs>
                <a:gs pos="100000">
                  <a:schemeClr val="accent1">
                    <a:lumMod val="85000"/>
                  </a:schemeClr>
                </a:gs>
              </a:gsLst>
              <a:lin ang="5400000" scaled="0"/>
            </a:gradFill>
          </a:ln>
          <a:effectLst>
            <a:softEdge rad="63500"/>
          </a:effectLst>
          <a:scene3d>
            <a:camera prst="obliqueTopLeft"/>
            <a:lightRig rig="threePt" dir="t"/>
          </a:scene3d>
        </p:spPr>
      </p:pic>
      <p:pic>
        <p:nvPicPr>
          <p:cNvPr id="3" name="Picture 2" descr="ChatGPT Image Apr 12, 2026, 11_08_55 PM"/>
          <p:cNvPicPr>
            <a:picLocks noChangeAspect="1"/>
          </p:cNvPicPr>
          <p:nvPr/>
        </p:nvPicPr>
        <p:blipFill>
          <a:blip r:embed="rId2"/>
          <a:stretch>
            <a:fillRect/>
          </a:stretch>
        </p:blipFill>
        <p:spPr>
          <a:xfrm>
            <a:off x="635" y="5337810"/>
            <a:ext cx="1188085" cy="1520190"/>
          </a:xfrm>
          <a:prstGeom prst="rect">
            <a:avLst/>
          </a:prstGeom>
        </p:spPr>
      </p:pic>
      <p:pic>
        <p:nvPicPr>
          <p:cNvPr id="5" name="Picture 4" descr="ChatGPT Image Apr 12, 2026, 11_08_55 PM"/>
          <p:cNvPicPr>
            <a:picLocks noChangeAspect="1"/>
          </p:cNvPicPr>
          <p:nvPr/>
        </p:nvPicPr>
        <p:blipFill>
          <a:blip r:embed="rId2"/>
          <a:stretch>
            <a:fillRect/>
          </a:stretch>
        </p:blipFill>
        <p:spPr>
          <a:xfrm rot="10800000">
            <a:off x="11003280" y="5080"/>
            <a:ext cx="1188085" cy="15201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333375" y="309245"/>
            <a:ext cx="11858625" cy="429895"/>
          </a:xfrm>
          <a:prstGeom prst="rect">
            <a:avLst/>
          </a:prstGeom>
          <a:noFill/>
        </p:spPr>
        <p:txBody>
          <a:bodyPr wrap="square" rtlCol="0">
            <a:spAutoFit/>
          </a:bodyPr>
          <a:p>
            <a:pPr algn="just"/>
            <a:r>
              <a:rPr lang="en-US" altLang="en-US" sz="22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From Detection to Decision: Bridging the Intelligence Gap</a:t>
            </a:r>
            <a:endParaRPr lang="en-US" altLang="en-US" sz="22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p:txBody>
      </p:sp>
      <p:grpSp>
        <p:nvGrpSpPr>
          <p:cNvPr id="12" name="组合 3" descr="7b0a202020202274657874626f78223a2022220a7d0a"/>
          <p:cNvGrpSpPr/>
          <p:nvPr>
            <p:custDataLst>
              <p:tags r:id="rId1"/>
            </p:custDataLst>
          </p:nvPr>
        </p:nvGrpSpPr>
        <p:grpSpPr>
          <a:xfrm>
            <a:off x="481330" y="881380"/>
            <a:ext cx="5400040" cy="5570220"/>
            <a:chOff x="5348" y="3278"/>
            <a:chExt cx="8504" cy="4243"/>
          </a:xfrm>
        </p:grpSpPr>
        <p:sp>
          <p:nvSpPr>
            <p:cNvPr id="13" name="圆角矩形 7"/>
            <p:cNvSpPr/>
            <p:nvPr/>
          </p:nvSpPr>
          <p:spPr>
            <a:xfrm>
              <a:off x="5348" y="3278"/>
              <a:ext cx="8504" cy="4243"/>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文本框 1"/>
            <p:cNvSpPr txBox="1"/>
            <p:nvPr/>
          </p:nvSpPr>
          <p:spPr>
            <a:xfrm>
              <a:off x="5502" y="3720"/>
              <a:ext cx="8195" cy="3652"/>
            </a:xfrm>
            <a:prstGeom prst="rect">
              <a:avLst/>
            </a:prstGeom>
            <a:noFill/>
          </p:spPr>
          <p:txBody>
            <a:bodyPr wrap="square" rtlCol="0" anchor="ctr" anchorCtr="0">
              <a:noAutofit/>
            </a:bodyPr>
            <a:p>
              <a:pPr algn="just">
                <a:lnSpc>
                  <a:spcPct val="90000"/>
                </a:lnSpc>
              </a:pPr>
              <a:r>
                <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rPr>
                <a:t>Problem</a:t>
              </a:r>
              <a:endPar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Enterprise systems continuously track KPIs such as Revenue, Conversion Rate, and Customer Acquisition Cost (CAC) across multiple business dimensions</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While anomalies are detected, systems fail to explain the underlying causes or provide actionable insights for decision-making</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algn="just">
                <a:lnSpc>
                  <a:spcPct val="90000"/>
                </a:lnSpc>
              </a:pP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algn="just">
                <a:lnSpc>
                  <a:spcPct val="90000"/>
                </a:lnSpc>
              </a:pPr>
              <a:r>
                <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rPr>
                <a:t>Key Limitations</a:t>
              </a:r>
              <a:endPar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Lack of root cause understanding leads to manual, time-consuming, and inconsistent analysis by analysts</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Monitoring, diagnosis, and decision-making operate as disconnected stages without coordination or shared state</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algn="just">
                <a:lnSpc>
                  <a:spcPct val="90000"/>
                </a:lnSpc>
              </a:pP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algn="just">
                <a:lnSpc>
                  <a:spcPct val="90000"/>
                </a:lnSpc>
              </a:pPr>
              <a:r>
                <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rPr>
                <a:t>From Alerts to Decisions</a:t>
              </a:r>
              <a:endPar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endParaRPr>
            </a:p>
            <a:p>
              <a:pPr algn="just">
                <a:lnSpc>
                  <a:spcPct val="90000"/>
                </a:lnSpc>
              </a:pP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indent="0" algn="just">
                <a:lnSpc>
                  <a:spcPct val="90000"/>
                </a:lnSpc>
                <a:buFont typeface="Arial" panose="020B0604020202020204" pitchFamily="34" charset="0"/>
                <a:buNone/>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Current Systems → Proposed Agentic Approach</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Detect anomalies without context → Detect anomalies with confidence scores and contextual root cause insights</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Decisions rely on analyst judgment → Provide ranked, explainable recommendations based on impact, risk, and cost</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algn="just">
                <a:lnSpc>
                  <a:spcPct val="90000"/>
                </a:lnSpc>
              </a:pP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algn="just">
                <a:lnSpc>
                  <a:spcPct val="90000"/>
                </a:lnSpc>
              </a:pPr>
              <a:r>
                <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rPr>
                <a:t>Motivation</a:t>
              </a:r>
              <a:endPar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Need for a coordinated, state-aware framework that integrates detection, diagnosis, and decision-making</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a:p>
              <a:pPr marL="285750" indent="-285750" algn="just">
                <a:lnSpc>
                  <a:spcPct val="90000"/>
                </a:lnSpc>
                <a:buFont typeface="Arial" panose="020B0604020202020204" pitchFamily="34" charset="0"/>
                <a:buChar char="•"/>
              </a:pPr>
              <a:r>
                <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rPr>
                <a:t>Enable a transition from reactive alerting systems to structured, consistent, and interpretable decision intelligence</a:t>
              </a: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p:txBody>
        </p:sp>
      </p:grpSp>
      <p:grpSp>
        <p:nvGrpSpPr>
          <p:cNvPr id="16" name="组合 3" descr="7b0a202020202274657874626f78223a2022220a7d0a"/>
          <p:cNvGrpSpPr/>
          <p:nvPr>
            <p:custDataLst>
              <p:tags r:id="rId2"/>
            </p:custDataLst>
          </p:nvPr>
        </p:nvGrpSpPr>
        <p:grpSpPr>
          <a:xfrm>
            <a:off x="6161405" y="881380"/>
            <a:ext cx="5400040" cy="5570220"/>
            <a:chOff x="5348" y="3278"/>
            <a:chExt cx="8504" cy="4243"/>
          </a:xfrm>
        </p:grpSpPr>
        <p:sp>
          <p:nvSpPr>
            <p:cNvPr id="17" name="圆角矩形 7"/>
            <p:cNvSpPr/>
            <p:nvPr/>
          </p:nvSpPr>
          <p:spPr>
            <a:xfrm>
              <a:off x="5348" y="3278"/>
              <a:ext cx="8504" cy="4243"/>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文本框 1"/>
            <p:cNvSpPr txBox="1"/>
            <p:nvPr/>
          </p:nvSpPr>
          <p:spPr>
            <a:xfrm>
              <a:off x="5476" y="3670"/>
              <a:ext cx="8225" cy="661"/>
            </a:xfrm>
            <a:prstGeom prst="rect">
              <a:avLst/>
            </a:prstGeom>
            <a:noFill/>
          </p:spPr>
          <p:txBody>
            <a:bodyPr wrap="square" rtlCol="0" anchor="ctr" anchorCtr="0">
              <a:normAutofit lnSpcReduction="20000"/>
            </a:bodyPr>
            <a:p>
              <a:pPr algn="just">
                <a:lnSpc>
                  <a:spcPct val="110000"/>
                </a:lnSpc>
              </a:pPr>
              <a:r>
                <a:rPr lang="en-US" altLang="en-US" sz="1300" b="1" dirty="0">
                  <a:solidFill>
                    <a:schemeClr val="tx1"/>
                  </a:solidFill>
                  <a:effectLst/>
                  <a:latin typeface="Times New Roman" panose="02020603050405020304" charset="0"/>
                  <a:ea typeface="Microsoft YaHei" panose="020B0503020204020204" charset="-122"/>
                  <a:cs typeface="Times New Roman" panose="02020603050405020304" charset="0"/>
                </a:rPr>
                <a:t>Can a coordinated multi-agent system transform enterprise monitoring into a structured decision-making process by improving accuracy, consistency, and interpretability from anomaly detection to actionable recommendations?</a:t>
              </a:r>
              <a:endParaRPr lang="zh-CN" altLang="en-US" sz="1300" b="1" dirty="0">
                <a:solidFill>
                  <a:schemeClr val="tx1"/>
                </a:solidFill>
                <a:effectLst/>
                <a:latin typeface="Times New Roman" panose="02020603050405020304" charset="0"/>
                <a:ea typeface="Microsoft YaHei" panose="020B0503020204020204" charset="-122"/>
                <a:cs typeface="Times New Roman" panose="02020603050405020304" charset="0"/>
              </a:endParaRPr>
            </a:p>
          </p:txBody>
        </p:sp>
      </p:grpSp>
      <p:sp>
        <p:nvSpPr>
          <p:cNvPr id="19" name="Top Corners Rounded Rectangle 18"/>
          <p:cNvSpPr/>
          <p:nvPr/>
        </p:nvSpPr>
        <p:spPr>
          <a:xfrm>
            <a:off x="481330" y="881380"/>
            <a:ext cx="5399405" cy="437515"/>
          </a:xfrm>
          <a:prstGeom prst="round2SameRect">
            <a:avLst/>
          </a:prstGeom>
          <a:gradFill>
            <a:gsLst>
              <a:gs pos="100000">
                <a:srgbClr val="4571C8">
                  <a:alpha val="100000"/>
                </a:srgbClr>
              </a:gs>
              <a:gs pos="96000">
                <a:srgbClr val="4672C9">
                  <a:alpha val="100000"/>
                </a:srgbClr>
              </a:gs>
              <a:gs pos="100000">
                <a:srgbClr val="436FC6">
                  <a:alpha val="100000"/>
                </a:srgbClr>
              </a:gs>
              <a:gs pos="100000">
                <a:srgbClr val="3E6AC1">
                  <a:alpha val="100000"/>
                </a:srgbClr>
              </a:gs>
              <a:gs pos="0">
                <a:schemeClr val="accent1"/>
              </a:gs>
              <a:gs pos="0">
                <a:schemeClr val="accent1">
                  <a:lumMod val="25000"/>
                  <a:lumOff val="75000"/>
                </a:schemeClr>
              </a:gs>
              <a:gs pos="100000">
                <a:srgbClr val="4672C9">
                  <a:alpha val="100000"/>
                </a:srgbClr>
              </a:gs>
              <a:gs pos="96000">
                <a:srgbClr val="3965BC">
                  <a:alpha val="100000"/>
                </a:srgbClr>
              </a:gs>
              <a:gs pos="100000">
                <a:schemeClr val="accent1">
                  <a:lumMod val="85000"/>
                </a:schemeClr>
              </a:gs>
            </a:gsLst>
            <a:lin ang="5400000" scaled="1"/>
          </a:gra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Problem &amp; Motivation</a:t>
            </a:r>
            <a:endParaRPr lang="en-US" altLang="en-US">
              <a:latin typeface="Times New Roman" panose="02020603050405020304" charset="0"/>
              <a:cs typeface="Times New Roman" panose="02020603050405020304" charset="0"/>
            </a:endParaRPr>
          </a:p>
        </p:txBody>
      </p:sp>
      <p:sp>
        <p:nvSpPr>
          <p:cNvPr id="20" name="Top Corners Rounded Rectangle 19"/>
          <p:cNvSpPr/>
          <p:nvPr/>
        </p:nvSpPr>
        <p:spPr>
          <a:xfrm>
            <a:off x="6162040" y="881380"/>
            <a:ext cx="5399405" cy="437515"/>
          </a:xfrm>
          <a:prstGeom prst="round2SameRect">
            <a:avLst/>
          </a:prstGeom>
          <a:gradFill>
            <a:gsLst>
              <a:gs pos="100000">
                <a:srgbClr val="4571C8">
                  <a:alpha val="100000"/>
                </a:srgbClr>
              </a:gs>
              <a:gs pos="96000">
                <a:srgbClr val="4672C9">
                  <a:alpha val="100000"/>
                </a:srgbClr>
              </a:gs>
              <a:gs pos="100000">
                <a:srgbClr val="436FC6">
                  <a:alpha val="100000"/>
                </a:srgbClr>
              </a:gs>
              <a:gs pos="100000">
                <a:srgbClr val="3E6AC1">
                  <a:alpha val="100000"/>
                </a:srgbClr>
              </a:gs>
              <a:gs pos="0">
                <a:schemeClr val="accent1"/>
              </a:gs>
              <a:gs pos="0">
                <a:schemeClr val="accent1">
                  <a:lumMod val="25000"/>
                  <a:lumOff val="75000"/>
                </a:schemeClr>
              </a:gs>
              <a:gs pos="100000">
                <a:srgbClr val="4672C9">
                  <a:alpha val="100000"/>
                </a:srgbClr>
              </a:gs>
              <a:gs pos="96000">
                <a:srgbClr val="3965BC">
                  <a:alpha val="100000"/>
                </a:srgbClr>
              </a:gs>
              <a:gs pos="100000">
                <a:schemeClr val="accent1">
                  <a:lumMod val="85000"/>
                </a:schemeClr>
              </a:gs>
            </a:gsLst>
            <a:lin ang="5400000" scaled="1"/>
          </a:gra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Research Question</a:t>
            </a:r>
            <a:endParaRPr lang="en-US" altLang="en-US">
              <a:latin typeface="Times New Roman" panose="02020603050405020304" charset="0"/>
              <a:cs typeface="Times New Roman" panose="02020603050405020304" charset="0"/>
            </a:endParaRPr>
          </a:p>
        </p:txBody>
      </p:sp>
      <p:sp>
        <p:nvSpPr>
          <p:cNvPr id="21" name="Rectangle 20"/>
          <p:cNvSpPr/>
          <p:nvPr/>
        </p:nvSpPr>
        <p:spPr>
          <a:xfrm>
            <a:off x="6162040" y="2335530"/>
            <a:ext cx="5397500" cy="382270"/>
          </a:xfrm>
          <a:prstGeom prst="rect">
            <a:avLst/>
          </a:prstGeom>
          <a:gradFill>
            <a:gsLst>
              <a:gs pos="83000">
                <a:schemeClr val="accent1"/>
              </a:gs>
              <a:gs pos="0">
                <a:schemeClr val="accent1">
                  <a:lumMod val="25000"/>
                  <a:lumOff val="75000"/>
                </a:schemeClr>
              </a:gs>
              <a:gs pos="100000">
                <a:schemeClr val="accent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From Alerts to Decisions</a:t>
            </a:r>
            <a:endParaRPr lang="en-US" altLang="en-US">
              <a:latin typeface="Times New Roman" panose="02020603050405020304" charset="0"/>
              <a:cs typeface="Times New Roman" panose="02020603050405020304" charset="0"/>
            </a:endParaRPr>
          </a:p>
        </p:txBody>
      </p:sp>
      <p:graphicFrame>
        <p:nvGraphicFramePr>
          <p:cNvPr id="22" name="Table 21"/>
          <p:cNvGraphicFramePr/>
          <p:nvPr>
            <p:custDataLst>
              <p:tags r:id="rId3"/>
            </p:custDataLst>
          </p:nvPr>
        </p:nvGraphicFramePr>
        <p:xfrm>
          <a:off x="6162040" y="2717800"/>
          <a:ext cx="5396865" cy="1927860"/>
        </p:xfrm>
        <a:graphic>
          <a:graphicData uri="http://schemas.openxmlformats.org/drawingml/2006/table">
            <a:tbl>
              <a:tblPr firstRow="1">
                <a:tableStyleId>{FB6A2883-0DED-4C82-9F21-219E68DDDF31}</a:tableStyleId>
              </a:tblPr>
              <a:tblGrid>
                <a:gridCol w="2698115"/>
                <a:gridCol w="2698750"/>
              </a:tblGrid>
              <a:tr h="373380">
                <a:tc>
                  <a:txBody>
                    <a:bodyPr/>
                    <a:p>
                      <a:pPr>
                        <a:buNone/>
                      </a:pPr>
                      <a:r>
                        <a:rPr lang="en-US" altLang="en-US" sz="1500">
                          <a:latin typeface="Times New Roman" panose="02020603050405020304" charset="0"/>
                          <a:cs typeface="Times New Roman" panose="02020603050405020304" charset="0"/>
                        </a:rPr>
                        <a:t>Current Enterprise Systems</a:t>
                      </a:r>
                      <a:endParaRPr lang="en-US" altLang="en-US" sz="1500">
                        <a:latin typeface="Times New Roman" panose="02020603050405020304" charset="0"/>
                        <a:cs typeface="Times New Roman" panose="02020603050405020304" charset="0"/>
                      </a:endParaRPr>
                    </a:p>
                  </a:txBody>
                  <a:tcPr/>
                </a:tc>
                <a:tc>
                  <a:txBody>
                    <a:bodyPr/>
                    <a:p>
                      <a:pPr>
                        <a:buNone/>
                      </a:pPr>
                      <a:r>
                        <a:rPr lang="en-US" altLang="en-US" sz="1500">
                          <a:latin typeface="Times New Roman" panose="02020603050405020304" charset="0"/>
                          <a:cs typeface="Times New Roman" panose="02020603050405020304" charset="0"/>
                        </a:rPr>
                        <a:t>Proposed Agentic Approach</a:t>
                      </a:r>
                      <a:endParaRPr lang="en-US" altLang="en-US" sz="1500">
                        <a:latin typeface="Times New Roman" panose="02020603050405020304" charset="0"/>
                        <a:cs typeface="Times New Roman" panose="02020603050405020304" charset="0"/>
                      </a:endParaRPr>
                    </a:p>
                  </a:txBody>
                  <a:tcPr/>
                </a:tc>
              </a:tr>
              <a:tr h="518160">
                <a:tc>
                  <a:txBody>
                    <a:bodyPr/>
                    <a:p>
                      <a:pPr algn="just">
                        <a:buNone/>
                      </a:pPr>
                      <a:r>
                        <a:rPr lang="en-US" altLang="en-US" sz="1400">
                          <a:latin typeface="Times New Roman" panose="02020603050405020304" charset="0"/>
                          <a:cs typeface="Times New Roman" panose="02020603050405020304" charset="0"/>
                        </a:rPr>
                        <a:t>Detect anomalies in metrics</a:t>
                      </a:r>
                      <a:endParaRPr lang="en-US" altLang="en-US" sz="1400">
                        <a:latin typeface="Times New Roman" panose="02020603050405020304" charset="0"/>
                        <a:cs typeface="Times New Roman" panose="02020603050405020304" charset="0"/>
                      </a:endParaRPr>
                    </a:p>
                  </a:txBody>
                  <a:tcPr/>
                </a:tc>
                <a:tc>
                  <a:txBody>
                    <a:bodyPr/>
                    <a:p>
                      <a:pPr algn="just">
                        <a:buNone/>
                      </a:pPr>
                      <a:r>
                        <a:rPr lang="en-US" altLang="en-US" sz="1400">
                          <a:latin typeface="Times New Roman" panose="02020603050405020304" charset="0"/>
                          <a:cs typeface="Times New Roman" panose="02020603050405020304" charset="0"/>
                        </a:rPr>
                        <a:t>Detect anomalies with confidence scores</a:t>
                      </a:r>
                      <a:endParaRPr lang="en-US" altLang="en-US" sz="1400">
                        <a:latin typeface="Times New Roman" panose="02020603050405020304" charset="0"/>
                        <a:cs typeface="Times New Roman" panose="02020603050405020304" charset="0"/>
                      </a:endParaRPr>
                    </a:p>
                  </a:txBody>
                  <a:tcPr/>
                </a:tc>
              </a:tr>
              <a:tr h="518160">
                <a:tc>
                  <a:txBody>
                    <a:bodyPr/>
                    <a:p>
                      <a:pPr algn="just">
                        <a:buNone/>
                      </a:pPr>
                      <a:r>
                        <a:rPr lang="en-US" altLang="en-US" sz="1400">
                          <a:latin typeface="Times New Roman" panose="02020603050405020304" charset="0"/>
                          <a:cs typeface="Times New Roman" panose="02020603050405020304" charset="0"/>
                        </a:rPr>
                        <a:t>Provide alerts without context</a:t>
                      </a:r>
                      <a:endParaRPr lang="en-US" altLang="en-US" sz="1400">
                        <a:latin typeface="Times New Roman" panose="02020603050405020304" charset="0"/>
                        <a:cs typeface="Times New Roman" panose="02020603050405020304" charset="0"/>
                      </a:endParaRPr>
                    </a:p>
                  </a:txBody>
                  <a:tcPr/>
                </a:tc>
                <a:tc>
                  <a:txBody>
                    <a:bodyPr/>
                    <a:p>
                      <a:pPr algn="just">
                        <a:lnSpc>
                          <a:spcPct val="100000"/>
                        </a:lnSpc>
                        <a:buNone/>
                      </a:pPr>
                      <a:r>
                        <a:rPr lang="en-US" altLang="en-US" sz="1400">
                          <a:latin typeface="Times New Roman" panose="02020603050405020304" charset="0"/>
                          <a:cs typeface="Times New Roman" panose="02020603050405020304" charset="0"/>
                        </a:rPr>
                        <a:t>Identifies the rootcause across the dimensions.</a:t>
                      </a:r>
                      <a:endParaRPr lang="en-US" altLang="en-US" sz="1400">
                        <a:latin typeface="Times New Roman" panose="02020603050405020304" charset="0"/>
                        <a:cs typeface="Times New Roman" panose="02020603050405020304" charset="0"/>
                      </a:endParaRPr>
                    </a:p>
                  </a:txBody>
                  <a:tcPr/>
                </a:tc>
              </a:tr>
              <a:tr h="518160">
                <a:tc>
                  <a:txBody>
                    <a:bodyPr/>
                    <a:p>
                      <a:pPr algn="just">
                        <a:buNone/>
                      </a:pPr>
                      <a:r>
                        <a:rPr lang="en-US" altLang="en-US" sz="1400">
                          <a:latin typeface="Times New Roman" panose="02020603050405020304" charset="0"/>
                          <a:cs typeface="Times New Roman" panose="02020603050405020304" charset="0"/>
                        </a:rPr>
                        <a:t>Require manual investigation</a:t>
                      </a:r>
                      <a:endParaRPr lang="en-US" altLang="en-US" sz="1400">
                        <a:latin typeface="Times New Roman" panose="02020603050405020304" charset="0"/>
                        <a:cs typeface="Times New Roman" panose="02020603050405020304" charset="0"/>
                      </a:endParaRPr>
                    </a:p>
                  </a:txBody>
                  <a:tcPr/>
                </a:tc>
                <a:tc>
                  <a:txBody>
                    <a:bodyPr/>
                    <a:p>
                      <a:pPr algn="just">
                        <a:buNone/>
                      </a:pPr>
                      <a:r>
                        <a:rPr lang="en-US" altLang="en-US" sz="1400">
                          <a:latin typeface="Times New Roman" panose="02020603050405020304" charset="0"/>
                          <a:cs typeface="Times New Roman" panose="02020603050405020304" charset="0"/>
                        </a:rPr>
                        <a:t>Rank actions using impact, risk, and cost</a:t>
                      </a:r>
                      <a:endParaRPr lang="en-US" altLang="en-US" sz="1400">
                        <a:latin typeface="Times New Roman" panose="02020603050405020304" charset="0"/>
                        <a:cs typeface="Times New Roman" panose="02020603050405020304" charset="0"/>
                      </a:endParaRPr>
                    </a:p>
                  </a:txBody>
                  <a:tcPr/>
                </a:tc>
              </a:tr>
            </a:tbl>
          </a:graphicData>
        </a:graphic>
      </p:graphicFrame>
      <p:sp>
        <p:nvSpPr>
          <p:cNvPr id="30" name="Text Box 29"/>
          <p:cNvSpPr txBox="1"/>
          <p:nvPr/>
        </p:nvSpPr>
        <p:spPr>
          <a:xfrm>
            <a:off x="6163945" y="5234940"/>
            <a:ext cx="5397500" cy="640715"/>
          </a:xfrm>
          <a:prstGeom prst="rect">
            <a:avLst/>
          </a:prstGeom>
          <a:noFill/>
        </p:spPr>
        <p:txBody>
          <a:bodyPr wrap="square" rtlCol="0">
            <a:noAutofit/>
          </a:bodyPr>
          <a:p>
            <a:pPr algn="just"/>
            <a:r>
              <a:rPr lang="en-US" altLang="en-US" sz="1400" b="1">
                <a:latin typeface="Times New Roman" panose="02020603050405020304" charset="0"/>
                <a:cs typeface="Times New Roman" panose="02020603050405020304" charset="0"/>
              </a:rPr>
              <a:t>Enterprise systems are increasingly effective at detecting unusual changes in business metrics, but they still lack an integrated framework that can interpret those changes, identify their underlying causes, evaluate possible responses, and recommend what should be done next in a structured and reliable manner.</a:t>
            </a:r>
            <a:endParaRPr lang="en-US" altLang="en-US" sz="1400" b="1">
              <a:latin typeface="Times New Roman" panose="02020603050405020304" charset="0"/>
              <a:cs typeface="Times New Roman" panose="02020603050405020304" charset="0"/>
            </a:endParaRPr>
          </a:p>
        </p:txBody>
      </p:sp>
      <p:graphicFrame>
        <p:nvGraphicFramePr>
          <p:cNvPr id="32" name="Table 31"/>
          <p:cNvGraphicFramePr/>
          <p:nvPr>
            <p:custDataLst>
              <p:tags r:id="rId4"/>
            </p:custDataLst>
          </p:nvPr>
        </p:nvGraphicFramePr>
        <p:xfrm>
          <a:off x="6164580" y="4645660"/>
          <a:ext cx="5396865" cy="518160"/>
        </p:xfrm>
        <a:graphic>
          <a:graphicData uri="http://schemas.openxmlformats.org/drawingml/2006/table">
            <a:tbl>
              <a:tblPr firstRow="1">
                <a:tableStyleId>{FB6A2883-0DED-4C82-9F21-219E68DDDF31}</a:tableStyleId>
              </a:tblPr>
              <a:tblGrid>
                <a:gridCol w="2698115"/>
                <a:gridCol w="2698750"/>
              </a:tblGrid>
              <a:tr h="518160">
                <a:tc>
                  <a:txBody>
                    <a:bodyPr/>
                    <a:p>
                      <a:pPr>
                        <a:buNone/>
                      </a:pPr>
                      <a:r>
                        <a:rPr lang="en-US" altLang="en-US" sz="1400" b="0">
                          <a:latin typeface="Times New Roman" panose="02020603050405020304" charset="0"/>
                          <a:cs typeface="Times New Roman" panose="02020603050405020304" charset="0"/>
                        </a:rPr>
                        <a:t>Decisions depend on analyst judgment</a:t>
                      </a:r>
                      <a:endParaRPr lang="en-US" altLang="en-US" sz="1400" b="0">
                        <a:latin typeface="Times New Roman" panose="02020603050405020304" charset="0"/>
                        <a:cs typeface="Times New Roman" panose="02020603050405020304" charset="0"/>
                      </a:endParaRPr>
                    </a:p>
                  </a:txBody>
                  <a:tcPr/>
                </a:tc>
                <a:tc>
                  <a:txBody>
                    <a:bodyPr/>
                    <a:p>
                      <a:pPr>
                        <a:buNone/>
                      </a:pPr>
                      <a:r>
                        <a:rPr lang="en-US" altLang="en-US" sz="1400" b="0">
                          <a:latin typeface="Times New Roman" panose="02020603050405020304" charset="0"/>
                          <a:cs typeface="Times New Roman" panose="02020603050405020304" charset="0"/>
                        </a:rPr>
                        <a:t>Provide structured, explainable recommendations</a:t>
                      </a:r>
                      <a:endParaRPr lang="en-US" altLang="en-US" sz="1400" b="0">
                        <a:latin typeface="Times New Roman" panose="02020603050405020304" charset="0"/>
                        <a:cs typeface="Times New Roman" panose="02020603050405020304" charset="0"/>
                      </a:endParaRPr>
                    </a:p>
                  </a:txBody>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 name="组合 3" descr="7b0a202020202274657874626f78223a2022220a7d0a"/>
          <p:cNvGrpSpPr/>
          <p:nvPr>
            <p:custDataLst>
              <p:tags r:id="rId1"/>
            </p:custDataLst>
          </p:nvPr>
        </p:nvGrpSpPr>
        <p:grpSpPr>
          <a:xfrm>
            <a:off x="481330" y="300990"/>
            <a:ext cx="11362690" cy="6150610"/>
            <a:chOff x="5348" y="3278"/>
            <a:chExt cx="8504" cy="4243"/>
          </a:xfrm>
        </p:grpSpPr>
        <p:sp>
          <p:nvSpPr>
            <p:cNvPr id="13" name="圆角矩形 7"/>
            <p:cNvSpPr/>
            <p:nvPr/>
          </p:nvSpPr>
          <p:spPr>
            <a:xfrm>
              <a:off x="5348" y="3278"/>
              <a:ext cx="8504" cy="4243"/>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文本框 1"/>
            <p:cNvSpPr txBox="1"/>
            <p:nvPr/>
          </p:nvSpPr>
          <p:spPr>
            <a:xfrm>
              <a:off x="5502" y="3886"/>
              <a:ext cx="8195" cy="3395"/>
            </a:xfrm>
            <a:prstGeom prst="rect">
              <a:avLst/>
            </a:prstGeom>
            <a:noFill/>
          </p:spPr>
          <p:txBody>
            <a:bodyPr wrap="square" rtlCol="0" anchor="ctr" anchorCtr="0">
              <a:noAutofit/>
            </a:bodyPr>
            <a:p>
              <a:pPr algn="just">
                <a:lnSpc>
                  <a:spcPct val="90000"/>
                </a:lnSpc>
              </a:pPr>
              <a:endParaRPr lang="en-US" altLang="en-US" sz="1300" dirty="0">
                <a:solidFill>
                  <a:schemeClr val="tx1"/>
                </a:solidFill>
                <a:effectLst/>
                <a:latin typeface="Times New Roman" panose="02020603050405020304" charset="0"/>
                <a:ea typeface="Microsoft YaHei" panose="020B0503020204020204" charset="-122"/>
                <a:cs typeface="Times New Roman" panose="02020603050405020304" charset="0"/>
              </a:endParaRPr>
            </a:p>
          </p:txBody>
        </p:sp>
      </p:grpSp>
      <p:sp>
        <p:nvSpPr>
          <p:cNvPr id="19" name="Top Corners Rounded Rectangle 18"/>
          <p:cNvSpPr/>
          <p:nvPr/>
        </p:nvSpPr>
        <p:spPr>
          <a:xfrm>
            <a:off x="481330" y="300990"/>
            <a:ext cx="11362690" cy="513715"/>
          </a:xfrm>
          <a:prstGeom prst="round2SameRect">
            <a:avLst/>
          </a:prstGeom>
          <a:gradFill>
            <a:gsLst>
              <a:gs pos="100000">
                <a:srgbClr val="4571C8">
                  <a:alpha val="100000"/>
                </a:srgbClr>
              </a:gs>
              <a:gs pos="96000">
                <a:srgbClr val="4672C9">
                  <a:alpha val="100000"/>
                </a:srgbClr>
              </a:gs>
              <a:gs pos="100000">
                <a:srgbClr val="436FC6">
                  <a:alpha val="100000"/>
                </a:srgbClr>
              </a:gs>
              <a:gs pos="100000">
                <a:srgbClr val="3E6AC1">
                  <a:alpha val="100000"/>
                </a:srgbClr>
              </a:gs>
              <a:gs pos="0">
                <a:schemeClr val="accent1"/>
              </a:gs>
              <a:gs pos="0">
                <a:schemeClr val="accent1">
                  <a:lumMod val="25000"/>
                  <a:lumOff val="75000"/>
                </a:schemeClr>
              </a:gs>
              <a:gs pos="100000">
                <a:srgbClr val="4672C9">
                  <a:alpha val="100000"/>
                </a:srgbClr>
              </a:gs>
              <a:gs pos="96000">
                <a:srgbClr val="3965BC">
                  <a:alpha val="100000"/>
                </a:srgbClr>
              </a:gs>
              <a:gs pos="100000">
                <a:schemeClr val="accent1">
                  <a:lumMod val="85000"/>
                </a:schemeClr>
              </a:gs>
            </a:gsLst>
            <a:lin ang="5400000" scaled="1"/>
          </a:gra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Background and Prior Work</a:t>
            </a:r>
            <a:endParaRPr lang="en-US" altLang="en-US">
              <a:latin typeface="Times New Roman" panose="02020603050405020304" charset="0"/>
              <a:cs typeface="Times New Roman" panose="02020603050405020304" charset="0"/>
            </a:endParaRPr>
          </a:p>
        </p:txBody>
      </p:sp>
      <p:sp>
        <p:nvSpPr>
          <p:cNvPr id="2" name="Text Box 1"/>
          <p:cNvSpPr txBox="1"/>
          <p:nvPr/>
        </p:nvSpPr>
        <p:spPr>
          <a:xfrm>
            <a:off x="687070" y="815340"/>
            <a:ext cx="10949940" cy="5564505"/>
          </a:xfrm>
          <a:prstGeom prst="rect">
            <a:avLst/>
          </a:prstGeom>
          <a:noFill/>
        </p:spPr>
        <p:txBody>
          <a:bodyPr wrap="square" rtlCol="0">
            <a:noAutofit/>
          </a:bodyPr>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Enterprise Monitoring Systems</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Track KPIs such as Revenue, Conversion Rate, and CAC across dimensions like region, product tier, and customer segment</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Function primarily as reporting and alerting tools, requiring manual analysis after anomaly detection</a:t>
            </a: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Anomaly Detection</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Uses statistical techniques such as Rolling Mean, Rolling Standard Deviation, and EWMA to detect deviations from baseline</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Effective in identifying anomalies but does not provide insights into contributing factors or causes</a:t>
            </a: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Root Cause Analysis (RCA)</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Uses contribution-based attribution to measure each dimension’s share of deviation</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Produces ranked outputs (Top-1 / Top-3), but lacks integration with downstream decision-making</a:t>
            </a: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Limitations in Existing Approaches</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Detection, diagnosis, and decision-making exist as independent and disconnected stages</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No shared state or coordination, leading to inconsistent interpretation and delayed response</a:t>
            </a: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Research Gap</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Lack of an end-to-end coordinated framework integrating detection, RCA, and decision-making</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Limited systems provide structured, explainable decision recommendations beyond anomaly alerts</a:t>
            </a: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Our Contribution</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Propose a coordinated multi-agent system integrating detection, diagnosis, and decision-making within a unified pipeline</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Introduce Central Controller and Shared Memory with utility-based decision ranking and controlled LLM-based explanation</a:t>
            </a: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Transforms isolated analytical steps into a unified and coordinated decision intelligence framework</a:t>
            </a:r>
            <a:endParaRPr lang="en-US" altLang="en-US" sz="1600" b="1">
              <a:latin typeface="Times New Roman" panose="02020603050405020304" charset="0"/>
              <a:cs typeface="Times New Roman" panose="02020603050405020304" charset="0"/>
            </a:endParaRPr>
          </a:p>
        </p:txBody>
      </p:sp>
      <p:pic>
        <p:nvPicPr>
          <p:cNvPr id="5" name="Picture 4" descr="ChatGPT Image Apr 12, 2026, 08_48_51 PM"/>
          <p:cNvPicPr>
            <a:picLocks noChangeAspect="1"/>
          </p:cNvPicPr>
          <p:nvPr/>
        </p:nvPicPr>
        <p:blipFill>
          <a:blip r:embed="rId2"/>
          <a:srcRect t="2742"/>
          <a:stretch>
            <a:fillRect/>
          </a:stretch>
        </p:blipFill>
        <p:spPr>
          <a:xfrm>
            <a:off x="8904605" y="2396490"/>
            <a:ext cx="2808605" cy="2526665"/>
          </a:xfrm>
          <a:prstGeom prst="rect">
            <a:avLst/>
          </a:prstGeom>
          <a:effectLst>
            <a:softEdge rad="317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圆角矩形 7"/>
          <p:cNvSpPr/>
          <p:nvPr/>
        </p:nvSpPr>
        <p:spPr>
          <a:xfrm>
            <a:off x="481330" y="300990"/>
            <a:ext cx="11362690" cy="6150610"/>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Top Corners Rounded Rectangle 18"/>
          <p:cNvSpPr/>
          <p:nvPr/>
        </p:nvSpPr>
        <p:spPr>
          <a:xfrm>
            <a:off x="481330" y="300990"/>
            <a:ext cx="11362690" cy="513715"/>
          </a:xfrm>
          <a:prstGeom prst="round2SameRect">
            <a:avLst/>
          </a:prstGeom>
          <a:gradFill>
            <a:gsLst>
              <a:gs pos="100000">
                <a:srgbClr val="4571C8">
                  <a:alpha val="100000"/>
                </a:srgbClr>
              </a:gs>
              <a:gs pos="96000">
                <a:srgbClr val="4672C9">
                  <a:alpha val="100000"/>
                </a:srgbClr>
              </a:gs>
              <a:gs pos="100000">
                <a:srgbClr val="436FC6">
                  <a:alpha val="100000"/>
                </a:srgbClr>
              </a:gs>
              <a:gs pos="100000">
                <a:srgbClr val="3E6AC1">
                  <a:alpha val="100000"/>
                </a:srgbClr>
              </a:gs>
              <a:gs pos="0">
                <a:schemeClr val="accent1"/>
              </a:gs>
              <a:gs pos="0">
                <a:schemeClr val="accent1">
                  <a:lumMod val="25000"/>
                  <a:lumOff val="75000"/>
                </a:schemeClr>
              </a:gs>
              <a:gs pos="100000">
                <a:srgbClr val="4672C9">
                  <a:alpha val="100000"/>
                </a:srgbClr>
              </a:gs>
              <a:gs pos="96000">
                <a:srgbClr val="3965BC">
                  <a:alpha val="100000"/>
                </a:srgbClr>
              </a:gs>
              <a:gs pos="100000">
                <a:schemeClr val="accent1">
                  <a:lumMod val="85000"/>
                </a:schemeClr>
              </a:gs>
            </a:gsLst>
            <a:lin ang="5400000" scaled="1"/>
          </a:gra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Dataset and Preprocessing</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684530" y="945515"/>
            <a:ext cx="10969625" cy="5276215"/>
          </a:xfrm>
          <a:prstGeom prst="rect">
            <a:avLst/>
          </a:prstGeom>
          <a:noFill/>
        </p:spPr>
        <p:txBody>
          <a:bodyPr wrap="square" rtlCol="0">
            <a:noAutofit/>
          </a:bodyPr>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Dataset</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Google Analytics 4 (GA4) Obfuscated E-commerce Public Dataset, sourced from Google BigQuery, consisting of large-scale event-level enterprise web analytics data</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Contains user sessions, traffic sources, event logs, and purchase activity, enabling derivation of structured business metrics</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b="1">
                <a:latin typeface="Times New Roman" panose="02020603050405020304" charset="0"/>
                <a:cs typeface="Times New Roman" panose="02020603050405020304" charset="0"/>
                <a:sym typeface="+mn-ea"/>
              </a:rPr>
              <a:t>Key Metrics</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Core KPIs are daily revenue, purchases, and sessions , with derived conversion_rate, aov, a proxy cac, and churn, and optional revenue splits by region/channel/segment for attribution, while the agent pipeline usually monitors one metric at a time</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Additional behavioral signals derived from event data, including churn-related indicators and user interaction patterns</a:t>
            </a: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Preprocessing</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Event-level data is transformed into structured time-series format by aggregating events over defined time intervals</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Metrics are aligned and standardized across dimensions such as region, product tier, and customer segment for consistent analysis</a:t>
            </a: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Feature Engineering</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Computation of Rolling Mean and Rolling Standard Deviation to establish dynamic baseline behavior for each metric</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Application of Exponentially Weighted Moving Average (EWMA) to smooth short-term fluctuations and capture recent trends</a:t>
            </a: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Preparation for Analysis</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Baseline behavior is established across all metrics to support reliable deviation detection</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Structured and consistent inputs are generated for downstream anomaly detection and root cause analysis modules</a:t>
            </a: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Transforms raw event data into structured time-series inputs for analysis</a:t>
            </a:r>
            <a:endParaRPr lang="en-US" altLang="en-US" sz="1600" b="1">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圆角矩形 7"/>
          <p:cNvSpPr/>
          <p:nvPr/>
        </p:nvSpPr>
        <p:spPr>
          <a:xfrm>
            <a:off x="481330" y="300990"/>
            <a:ext cx="11362690" cy="6150610"/>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Top Corners Rounded Rectangle 18"/>
          <p:cNvSpPr/>
          <p:nvPr/>
        </p:nvSpPr>
        <p:spPr>
          <a:xfrm>
            <a:off x="481330" y="300990"/>
            <a:ext cx="11362690" cy="513715"/>
          </a:xfrm>
          <a:prstGeom prst="round2SameRect">
            <a:avLst/>
          </a:prstGeom>
          <a:gradFill>
            <a:gsLst>
              <a:gs pos="100000">
                <a:srgbClr val="4571C8">
                  <a:alpha val="100000"/>
                </a:srgbClr>
              </a:gs>
              <a:gs pos="96000">
                <a:srgbClr val="4672C9">
                  <a:alpha val="100000"/>
                </a:srgbClr>
              </a:gs>
              <a:gs pos="100000">
                <a:srgbClr val="436FC6">
                  <a:alpha val="100000"/>
                </a:srgbClr>
              </a:gs>
              <a:gs pos="100000">
                <a:srgbClr val="3E6AC1">
                  <a:alpha val="100000"/>
                </a:srgbClr>
              </a:gs>
              <a:gs pos="0">
                <a:schemeClr val="accent1"/>
              </a:gs>
              <a:gs pos="0">
                <a:schemeClr val="accent1">
                  <a:lumMod val="25000"/>
                  <a:lumOff val="75000"/>
                </a:schemeClr>
              </a:gs>
              <a:gs pos="100000">
                <a:srgbClr val="4672C9">
                  <a:alpha val="100000"/>
                </a:srgbClr>
              </a:gs>
              <a:gs pos="96000">
                <a:srgbClr val="3965BC">
                  <a:alpha val="100000"/>
                </a:srgbClr>
              </a:gs>
              <a:gs pos="100000">
                <a:schemeClr val="accent1">
                  <a:lumMod val="85000"/>
                </a:schemeClr>
              </a:gs>
            </a:gsLst>
            <a:lin ang="5400000" scaled="1"/>
          </a:gra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Model Architecture and Approach</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561975" y="956310"/>
            <a:ext cx="11212830" cy="5446395"/>
          </a:xfrm>
          <a:prstGeom prst="rect">
            <a:avLst/>
          </a:prstGeom>
          <a:noFill/>
        </p:spPr>
        <p:txBody>
          <a:bodyPr wrap="square" rtlCol="0">
            <a:noAutofit/>
          </a:bodyPr>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System Architecture</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A 5-agent coordinated system consisting of Monitoring, Anomaly Detection, Root Cause Analysis, Decision, and Explanation agents</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All agents are governed by a rule-based Central Controller and communicate through a shared state.</a:t>
            </a: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Core Framework</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The system follows a structured pipeline:</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Perception → Reasoning → Action → Feedback</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Each stage depends on validated outputs from the previous stage, ensuring controlled and sequential execution</a:t>
            </a: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Central Controller &amp; Shared Memory</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Central Controller manages execution flow, enforces confidence thresholds, and triggers re-evaluation when outputs are inconsistent</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Shared Memory maintains system state, including metrics, anomaly scores, confidence levels, root causes, and decision outputs</a:t>
            </a: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Decision Logic</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Anomaly Detection: Rolling Mean, Rolling Standard Deviation, and EWMA for identifying deviations</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Root Cause &amp; Decision: Contribution-based attribution for diagnosis and utility-based ranking (impact, risk, cost) for actions</a:t>
            </a:r>
            <a:endParaRPr lang="en-US" altLang="en-US" sz="1600">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Controlled Intelligence</a:t>
            </a:r>
            <a:endParaRPr lang="en-US" altLang="en-US" sz="1600" b="1">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LLM is used only for explanation generation, based strictly on computed statistical outputs</a:t>
            </a:r>
            <a:endParaRPr lang="en-US" altLang="en-US" sz="1600">
              <a:latin typeface="Times New Roman" panose="02020603050405020304" charset="0"/>
              <a:cs typeface="Times New Roman" panose="02020603050405020304" charset="0"/>
            </a:endParaRPr>
          </a:p>
          <a:p>
            <a:pPr marL="285750" indent="-285750" algn="just">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Ensures explainability while preventing uncontrolled reasoning or deviation from quantitative results</a:t>
            </a: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buFont typeface="Arial" panose="020B0604020202020204" pitchFamily="34" charset="0"/>
              <a:buNone/>
            </a:pPr>
            <a:r>
              <a:rPr lang="en-US" altLang="en-US" sz="1600" b="1">
                <a:latin typeface="Times New Roman" panose="02020603050405020304" charset="0"/>
                <a:cs typeface="Times New Roman" panose="02020603050405020304" charset="0"/>
              </a:rPr>
              <a:t>Transforms isolated analytical steps into a coordinated, controlled decision-making system.</a:t>
            </a:r>
            <a:endParaRPr lang="en-US" altLang="en-US" sz="1600" b="1">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圆角矩形 7"/>
          <p:cNvSpPr/>
          <p:nvPr/>
        </p:nvSpPr>
        <p:spPr>
          <a:xfrm>
            <a:off x="481330" y="300990"/>
            <a:ext cx="11362690" cy="6150610"/>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Top Corners Rounded Rectangle 18"/>
          <p:cNvSpPr/>
          <p:nvPr/>
        </p:nvSpPr>
        <p:spPr>
          <a:xfrm>
            <a:off x="481330" y="300990"/>
            <a:ext cx="11362690" cy="513715"/>
          </a:xfrm>
          <a:prstGeom prst="round2SameRect">
            <a:avLst/>
          </a:prstGeom>
          <a:gradFill>
            <a:gsLst>
              <a:gs pos="100000">
                <a:srgbClr val="4571C8">
                  <a:alpha val="100000"/>
                </a:srgbClr>
              </a:gs>
              <a:gs pos="96000">
                <a:srgbClr val="4672C9">
                  <a:alpha val="100000"/>
                </a:srgbClr>
              </a:gs>
              <a:gs pos="100000">
                <a:srgbClr val="436FC6">
                  <a:alpha val="100000"/>
                </a:srgbClr>
              </a:gs>
              <a:gs pos="100000">
                <a:srgbClr val="3E6AC1">
                  <a:alpha val="100000"/>
                </a:srgbClr>
              </a:gs>
              <a:gs pos="0">
                <a:schemeClr val="accent1"/>
              </a:gs>
              <a:gs pos="0">
                <a:schemeClr val="accent1">
                  <a:lumMod val="25000"/>
                  <a:lumOff val="75000"/>
                </a:schemeClr>
              </a:gs>
              <a:gs pos="100000">
                <a:srgbClr val="4672C9">
                  <a:alpha val="100000"/>
                </a:srgbClr>
              </a:gs>
              <a:gs pos="96000">
                <a:srgbClr val="3965BC">
                  <a:alpha val="100000"/>
                </a:srgbClr>
              </a:gs>
              <a:gs pos="100000">
                <a:schemeClr val="accent1">
                  <a:lumMod val="85000"/>
                </a:schemeClr>
              </a:gs>
            </a:gsLst>
            <a:lin ang="5400000" scaled="1"/>
          </a:gra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Experimental Setup</a:t>
            </a:r>
            <a:endParaRPr lang="en-US" altLang="en-US">
              <a:latin typeface="Times New Roman" panose="02020603050405020304" charset="0"/>
              <a:cs typeface="Times New Roman" panose="02020603050405020304" charset="0"/>
            </a:endParaRPr>
          </a:p>
        </p:txBody>
      </p:sp>
      <p:sp>
        <p:nvSpPr>
          <p:cNvPr id="2" name="Text Box 1"/>
          <p:cNvSpPr txBox="1"/>
          <p:nvPr/>
        </p:nvSpPr>
        <p:spPr>
          <a:xfrm>
            <a:off x="564515" y="905510"/>
            <a:ext cx="11155045" cy="5438140"/>
          </a:xfrm>
          <a:prstGeom prst="rect">
            <a:avLst/>
          </a:prstGeom>
          <a:noFill/>
        </p:spPr>
        <p:txBody>
          <a:bodyPr wrap="square" rtlCol="0">
            <a:noAutofit/>
          </a:bodyPr>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Dataset Execution</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Time-series metrics have been constructed from the GA4 dataset for analysis</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Sequential replay setup is designed to simulate real-time enterprise data flow</a:t>
            </a: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Test Scenarios</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Controlled anomaly scenarios such as revenue drops and traffic spikes are defined for evaluation</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Natural variations from the dataset are identified to reflect realistic system behavior</a:t>
            </a:r>
            <a:endParaRPr lang="en-US" altLang="en-US" sz="1600">
              <a:latin typeface="Times New Roman" panose="02020603050405020304" charset="0"/>
              <a:cs typeface="Times New Roman" panose="02020603050405020304" charset="0"/>
            </a:endParaRPr>
          </a:p>
          <a:p>
            <a:pPr indent="0">
              <a:lnSpc>
                <a:spcPct val="8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Baseline Systems</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Baseline comparison framework is defined, including:</a:t>
            </a:r>
            <a:endParaRPr lang="en-US" altLang="en-US" sz="1600">
              <a:latin typeface="Times New Roman" panose="02020603050405020304" charset="0"/>
              <a:cs typeface="Times New Roman" panose="02020603050405020304" charset="0"/>
            </a:endParaRPr>
          </a:p>
          <a:p>
            <a:pPr marL="742950" lvl="1" indent="-285750">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Static threshold-based alert system</a:t>
            </a:r>
            <a:endParaRPr lang="en-US" altLang="en-US" sz="1600">
              <a:latin typeface="Times New Roman" panose="02020603050405020304" charset="0"/>
              <a:cs typeface="Times New Roman" panose="02020603050405020304" charset="0"/>
            </a:endParaRPr>
          </a:p>
          <a:p>
            <a:pPr marL="742950" lvl="1" indent="-285750">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Single anomaly detection model</a:t>
            </a:r>
            <a:endParaRPr lang="en-US" altLang="en-US" sz="1600">
              <a:latin typeface="Times New Roman" panose="02020603050405020304" charset="0"/>
              <a:cs typeface="Times New Roman" panose="02020603050405020304" charset="0"/>
            </a:endParaRPr>
          </a:p>
          <a:p>
            <a:pPr marL="742950" lvl="1" indent="-285750">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Manual analysis workflow</a:t>
            </a:r>
            <a:endParaRPr lang="en-US" altLang="en-US" sz="1600">
              <a:latin typeface="Times New Roman" panose="02020603050405020304" charset="0"/>
              <a:cs typeface="Times New Roman" panose="02020603050405020304" charset="0"/>
            </a:endParaRPr>
          </a:p>
          <a:p>
            <a:pPr marL="285750" indent="-285750">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Comparative evaluation against these baselines is planned</a:t>
            </a:r>
            <a:endParaRPr lang="en-US" altLang="en-US" sz="1600">
              <a:latin typeface="Times New Roman" panose="02020603050405020304" charset="0"/>
              <a:cs typeface="Times New Roman" panose="02020603050405020304" charset="0"/>
            </a:endParaRPr>
          </a:p>
          <a:p>
            <a:pPr marL="285750" indent="-285750">
              <a:lnSpc>
                <a:spcPct val="80000"/>
              </a:lnSpc>
              <a:buFont typeface="Arial" panose="020B0604020202020204" pitchFamily="34" charset="0"/>
              <a:buChar char="•"/>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Evaluation Metrics </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Evaluation framework is defined to assess system performance</a:t>
            </a:r>
            <a:endParaRPr lang="en-US" altLang="en-US" sz="1600">
              <a:latin typeface="Times New Roman" panose="02020603050405020304" charset="0"/>
              <a:cs typeface="Times New Roman" panose="02020603050405020304" charset="0"/>
            </a:endParaRPr>
          </a:p>
          <a:p>
            <a:pPr marL="285750" indent="-285750">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Metrics include:</a:t>
            </a:r>
            <a:endParaRPr lang="en-US" altLang="en-US" sz="1600">
              <a:latin typeface="Times New Roman" panose="02020603050405020304" charset="0"/>
              <a:cs typeface="Times New Roman" panose="02020603050405020304" charset="0"/>
            </a:endParaRPr>
          </a:p>
          <a:p>
            <a:pPr marL="742950" lvl="1" indent="-285750">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Detection: Precision, Recall, F1-score, Detection latency</a:t>
            </a:r>
            <a:endParaRPr lang="en-US" altLang="en-US" sz="1600">
              <a:latin typeface="Times New Roman" panose="02020603050405020304" charset="0"/>
              <a:cs typeface="Times New Roman" panose="02020603050405020304" charset="0"/>
            </a:endParaRPr>
          </a:p>
          <a:p>
            <a:pPr marL="742950" lvl="1" indent="-285750">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Root Cause: Top-1 and Top-3 accuracy</a:t>
            </a:r>
            <a:endParaRPr lang="en-US" altLang="en-US" sz="1600">
              <a:latin typeface="Times New Roman" panose="02020603050405020304" charset="0"/>
              <a:cs typeface="Times New Roman" panose="02020603050405020304" charset="0"/>
            </a:endParaRPr>
          </a:p>
          <a:p>
            <a:pPr indent="0">
              <a:lnSpc>
                <a:spcPct val="80000"/>
              </a:lnSpc>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nSpc>
                <a:spcPct val="90000"/>
              </a:lnSpc>
              <a:buFont typeface="Arial" panose="020B0604020202020204" pitchFamily="34" charset="0"/>
              <a:buNone/>
            </a:pPr>
            <a:r>
              <a:rPr lang="en-US" altLang="en-US" sz="1600" b="1">
                <a:latin typeface="Times New Roman" panose="02020603050405020304" charset="0"/>
                <a:cs typeface="Times New Roman" panose="02020603050405020304" charset="0"/>
              </a:rPr>
              <a:t>Validation Status</a:t>
            </a:r>
            <a:endParaRPr lang="en-US" altLang="en-US" sz="1600" b="1">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Reproducibility strategy is planned using multiple runs and consistency checks</a:t>
            </a:r>
            <a:endParaRPr lang="en-US" altLang="en-US" sz="1600">
              <a:latin typeface="Times New Roman" panose="02020603050405020304" charset="0"/>
              <a:cs typeface="Times New Roman" panose="02020603050405020304" charset="0"/>
            </a:endParaRPr>
          </a:p>
          <a:p>
            <a:pPr marL="285750" indent="-285750">
              <a:lnSpc>
                <a:spcPct val="90000"/>
              </a:lnSpc>
              <a:buFont typeface="Arial" panose="020B0604020202020204" pitchFamily="34" charset="0"/>
              <a:buChar char="•"/>
            </a:pPr>
            <a:r>
              <a:rPr lang="en-US" altLang="en-US" sz="1600">
                <a:latin typeface="Times New Roman" panose="02020603050405020304" charset="0"/>
                <a:cs typeface="Times New Roman" panose="02020603050405020304" charset="0"/>
              </a:rPr>
              <a:t>Full evaluation, including decision and explanation metrics, is in progress</a:t>
            </a:r>
            <a:endParaRPr lang="en-US" altLang="en-US" sz="1600">
              <a:latin typeface="Times New Roman" panose="02020603050405020304" charset="0"/>
              <a:cs typeface="Times New Roman" panose="02020603050405020304" charset="0"/>
            </a:endParaRPr>
          </a:p>
          <a:p>
            <a:pPr marL="285750" indent="-285750">
              <a:lnSpc>
                <a:spcPct val="80000"/>
              </a:lnSpc>
              <a:buFont typeface="Arial" panose="020B0604020202020204" pitchFamily="34" charset="0"/>
              <a:buChar char="•"/>
            </a:pPr>
            <a:endParaRPr lang="en-US" altLang="en-US" sz="1600">
              <a:latin typeface="Times New Roman" panose="02020603050405020304" charset="0"/>
              <a:cs typeface="Times New Roman" panose="02020603050405020304" charset="0"/>
            </a:endParaRPr>
          </a:p>
          <a:p>
            <a:pPr indent="0">
              <a:lnSpc>
                <a:spcPct val="80000"/>
              </a:lnSpc>
              <a:buFont typeface="Arial" panose="020B0604020202020204" pitchFamily="34" charset="0"/>
              <a:buNone/>
            </a:pPr>
            <a:r>
              <a:rPr lang="en-US" altLang="en-US" sz="1600" b="1">
                <a:latin typeface="Times New Roman" panose="02020603050405020304" charset="0"/>
                <a:cs typeface="Times New Roman" panose="02020603050405020304" charset="0"/>
              </a:rPr>
              <a:t>Evaluates the system against real and controlled scenarios using measurable metrics</a:t>
            </a:r>
            <a:endParaRPr lang="en-US" altLang="en-US" sz="1600" b="1">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圆角矩形 7"/>
          <p:cNvSpPr/>
          <p:nvPr/>
        </p:nvSpPr>
        <p:spPr>
          <a:xfrm>
            <a:off x="481330" y="300990"/>
            <a:ext cx="11362690" cy="6150610"/>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Top Corners Rounded Rectangle 18"/>
          <p:cNvSpPr/>
          <p:nvPr/>
        </p:nvSpPr>
        <p:spPr>
          <a:xfrm>
            <a:off x="481330" y="300990"/>
            <a:ext cx="11362690" cy="513715"/>
          </a:xfrm>
          <a:prstGeom prst="round2SameRect">
            <a:avLst/>
          </a:prstGeom>
          <a:gradFill>
            <a:gsLst>
              <a:gs pos="100000">
                <a:srgbClr val="4571C8">
                  <a:alpha val="100000"/>
                </a:srgbClr>
              </a:gs>
              <a:gs pos="96000">
                <a:srgbClr val="4672C9">
                  <a:alpha val="100000"/>
                </a:srgbClr>
              </a:gs>
              <a:gs pos="100000">
                <a:srgbClr val="436FC6">
                  <a:alpha val="100000"/>
                </a:srgbClr>
              </a:gs>
              <a:gs pos="100000">
                <a:srgbClr val="3E6AC1">
                  <a:alpha val="100000"/>
                </a:srgbClr>
              </a:gs>
              <a:gs pos="0">
                <a:schemeClr val="accent1"/>
              </a:gs>
              <a:gs pos="0">
                <a:schemeClr val="accent1">
                  <a:lumMod val="25000"/>
                  <a:lumOff val="75000"/>
                </a:schemeClr>
              </a:gs>
              <a:gs pos="100000">
                <a:srgbClr val="4672C9">
                  <a:alpha val="100000"/>
                </a:srgbClr>
              </a:gs>
              <a:gs pos="96000">
                <a:srgbClr val="3965BC">
                  <a:alpha val="100000"/>
                </a:srgbClr>
              </a:gs>
              <a:gs pos="100000">
                <a:schemeClr val="accent1">
                  <a:lumMod val="85000"/>
                </a:schemeClr>
              </a:gs>
            </a:gsLst>
            <a:lin ang="5400000" scaled="1"/>
          </a:gra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Results, Findings and Error Analysis</a:t>
            </a:r>
            <a:endParaRPr lang="en-US" altLang="en-US">
              <a:latin typeface="Times New Roman" panose="02020603050405020304" charset="0"/>
              <a:cs typeface="Times New Roman" panose="02020603050405020304" charset="0"/>
            </a:endParaRPr>
          </a:p>
        </p:txBody>
      </p:sp>
      <p:sp>
        <p:nvSpPr>
          <p:cNvPr id="2" name="Text Box 1"/>
          <p:cNvSpPr txBox="1"/>
          <p:nvPr/>
        </p:nvSpPr>
        <p:spPr>
          <a:xfrm>
            <a:off x="582295" y="916305"/>
            <a:ext cx="11174095" cy="5339080"/>
          </a:xfrm>
          <a:prstGeom prst="rect">
            <a:avLst/>
          </a:prstGeom>
          <a:noFill/>
        </p:spPr>
        <p:txBody>
          <a:bodyPr wrap="square" rtlCol="0">
            <a:noAutofit/>
          </a:bodyPr>
          <a:p>
            <a:pPr indent="0" algn="just">
              <a:buFont typeface="Arial" panose="020B0604020202020204" pitchFamily="34" charset="0"/>
              <a:buNone/>
            </a:pPr>
            <a:r>
              <a:rPr lang="en-US" altLang="en-US" sz="1600" b="1">
                <a:latin typeface="Times New Roman" panose="02020603050405020304" charset="0"/>
                <a:cs typeface="Times New Roman" panose="02020603050405020304" charset="0"/>
              </a:rPr>
              <a:t>Implementation Status</a:t>
            </a:r>
            <a:endParaRPr lang="en-US" altLang="en-US" sz="1600" b="1">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Implemented the anomaly detection module using rolling mean, rolling SD, and EWMA, and validated it on the dataset.</a:t>
            </a:r>
            <a:endParaRPr lang="en-US" altLang="en-US" sz="16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Established the integration flow between anomaly detection and root cause analysis, ensuring that outputs from detection can be used for further analysis.</a:t>
            </a: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r>
              <a:rPr lang="en-US" altLang="en-US" sz="1600" b="1">
                <a:latin typeface="Times New Roman" panose="02020603050405020304" charset="0"/>
                <a:cs typeface="Times New Roman" panose="02020603050405020304" charset="0"/>
              </a:rPr>
              <a:t>Preliminary Observations</a:t>
            </a:r>
            <a:endParaRPr lang="en-US" altLang="en-US" sz="1600" b="1">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Rolling statistics and EWMA show stable behavior in identifying deviations from baseline</a:t>
            </a:r>
            <a:endParaRPr lang="en-US" altLang="en-US" sz="16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Structured time-series representation enables consistent input for downstream analysis</a:t>
            </a: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r>
              <a:rPr lang="en-US" altLang="en-US" sz="1600" b="1">
                <a:latin typeface="Times New Roman" panose="02020603050405020304" charset="0"/>
                <a:cs typeface="Times New Roman" panose="02020603050405020304" charset="0"/>
              </a:rPr>
              <a:t>System-Level Progress</a:t>
            </a:r>
            <a:endParaRPr lang="en-US" altLang="en-US" sz="1600" b="1">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Multi-agent architecture, Central Controller, and Shared Memory design are defined</a:t>
            </a:r>
            <a:endParaRPr lang="en-US" altLang="en-US" sz="16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Coordination logic for stage-wise execution and confidence-based progression is being developed</a:t>
            </a: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r>
              <a:rPr lang="en-US" altLang="en-US" sz="1600" b="1">
                <a:latin typeface="Times New Roman" panose="02020603050405020304" charset="0"/>
                <a:cs typeface="Times New Roman" panose="02020603050405020304" charset="0"/>
              </a:rPr>
              <a:t>Challenges Encountered</a:t>
            </a:r>
            <a:endParaRPr lang="en-US" altLang="en-US" sz="1600" b="1">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Attribution becomes difficult when multiple dimensions contribute with similar magnitude</a:t>
            </a:r>
            <a:endParaRPr lang="en-US" altLang="en-US" sz="16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Sensitivity of anomaly detection depends on rolling window size and EWMA parameters</a:t>
            </a: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r>
              <a:rPr lang="en-US" altLang="en-US" sz="1600" b="1">
                <a:latin typeface="Times New Roman" panose="02020603050405020304" charset="0"/>
                <a:cs typeface="Times New Roman" panose="02020603050405020304" charset="0"/>
              </a:rPr>
              <a:t>Current Limitations</a:t>
            </a:r>
            <a:endParaRPr lang="en-US" altLang="en-US" sz="1600" b="1">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Root cause analysis, decision ranking, and explanation modules are not fully implemented</a:t>
            </a:r>
            <a:endParaRPr lang="en-US" altLang="en-US" sz="16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End-to-end evaluation and comparative performance analysis are still in progress</a:t>
            </a:r>
            <a:endParaRPr lang="en-US" altLang="en-US" sz="1600">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The proposed system is designed to deliver consistent, interpretable, and actionable decision intelligence</a:t>
            </a:r>
            <a:endParaRPr lang="en-US" altLang="en-US" sz="1600" b="1">
              <a:latin typeface="Times New Roman" panose="02020603050405020304" charset="0"/>
              <a:cs typeface="Times New Roman" panose="02020603050405020304" charset="0"/>
            </a:endParaRPr>
          </a:p>
          <a:p>
            <a:endParaRPr lang="en-US" altLang="en-US"/>
          </a:p>
          <a:p>
            <a:endParaRPr lang="en-US" altLang="en-US"/>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圆角矩形 7"/>
          <p:cNvSpPr/>
          <p:nvPr/>
        </p:nvSpPr>
        <p:spPr>
          <a:xfrm>
            <a:off x="481330" y="300990"/>
            <a:ext cx="11362690" cy="6150610"/>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Times New Roman" panose="02020603050405020304" charset="0"/>
              <a:cs typeface="Times New Roman" panose="02020603050405020304" charset="0"/>
            </a:endParaRPr>
          </a:p>
        </p:txBody>
      </p:sp>
      <p:sp>
        <p:nvSpPr>
          <p:cNvPr id="19" name="Top Corners Rounded Rectangle 18"/>
          <p:cNvSpPr/>
          <p:nvPr/>
        </p:nvSpPr>
        <p:spPr>
          <a:xfrm>
            <a:off x="481330" y="300990"/>
            <a:ext cx="11362690" cy="513715"/>
          </a:xfrm>
          <a:prstGeom prst="round2SameRect">
            <a:avLst/>
          </a:prstGeom>
          <a:gradFill>
            <a:gsLst>
              <a:gs pos="100000">
                <a:srgbClr val="4571C8">
                  <a:alpha val="100000"/>
                </a:srgbClr>
              </a:gs>
              <a:gs pos="96000">
                <a:srgbClr val="4672C9">
                  <a:alpha val="100000"/>
                </a:srgbClr>
              </a:gs>
              <a:gs pos="100000">
                <a:srgbClr val="436FC6">
                  <a:alpha val="100000"/>
                </a:srgbClr>
              </a:gs>
              <a:gs pos="100000">
                <a:srgbClr val="3E6AC1">
                  <a:alpha val="100000"/>
                </a:srgbClr>
              </a:gs>
              <a:gs pos="0">
                <a:schemeClr val="accent1"/>
              </a:gs>
              <a:gs pos="0">
                <a:schemeClr val="accent1">
                  <a:lumMod val="25000"/>
                  <a:lumOff val="75000"/>
                </a:schemeClr>
              </a:gs>
              <a:gs pos="100000">
                <a:srgbClr val="4672C9">
                  <a:alpha val="100000"/>
                </a:srgbClr>
              </a:gs>
              <a:gs pos="96000">
                <a:srgbClr val="3965BC">
                  <a:alpha val="100000"/>
                </a:srgbClr>
              </a:gs>
              <a:gs pos="100000">
                <a:schemeClr val="accent1">
                  <a:lumMod val="85000"/>
                </a:schemeClr>
              </a:gs>
            </a:gsLst>
            <a:lin ang="5400000" scaled="1"/>
          </a:gra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latin typeface="Times New Roman" panose="02020603050405020304" charset="0"/>
                <a:cs typeface="Times New Roman" panose="02020603050405020304" charset="0"/>
              </a:rPr>
              <a:t>Conclusion, Limitations and Future Enhancement</a:t>
            </a:r>
            <a:endParaRPr lang="en-US" altLang="en-US">
              <a:latin typeface="Times New Roman" panose="02020603050405020304" charset="0"/>
              <a:cs typeface="Times New Roman" panose="02020603050405020304" charset="0"/>
            </a:endParaRPr>
          </a:p>
        </p:txBody>
      </p:sp>
      <p:sp>
        <p:nvSpPr>
          <p:cNvPr id="2" name="Text Box 1"/>
          <p:cNvSpPr txBox="1"/>
          <p:nvPr/>
        </p:nvSpPr>
        <p:spPr>
          <a:xfrm>
            <a:off x="565785" y="882015"/>
            <a:ext cx="11059795" cy="5569585"/>
          </a:xfrm>
          <a:prstGeom prst="rect">
            <a:avLst/>
          </a:prstGeom>
        </p:spPr>
        <p:txBody>
          <a:bodyPr>
            <a:noAutofit/>
          </a:bodyPr>
          <a:p>
            <a:pPr indent="0" algn="just">
              <a:lnSpc>
                <a:spcPct val="80000"/>
              </a:lnSpc>
              <a:buFont typeface="Arial" panose="020B0604020202020204" pitchFamily="34" charset="0"/>
              <a:buNone/>
            </a:pPr>
            <a:r>
              <a:rPr lang="en-US" altLang="en-US" sz="1600" b="1">
                <a:latin typeface="Times New Roman" panose="02020603050405020304" charset="0"/>
                <a:cs typeface="Times New Roman" panose="02020603050405020304" charset="0"/>
              </a:rPr>
              <a:t>Conclusion</a:t>
            </a:r>
            <a:endParaRPr lang="en-US" altLang="en-US" sz="1600" b="1">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This project presents a coordinated multi-agent framework that transforms enterprise monitoring into a structured decision intelligence pipeline</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The system enables a complete flow from anomaly detection to root cause identification and decision recommendation, improving consistency and interpretability</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By integrating perception, reasoning, action, and feedback, the system establishes a controlled and explainable decision-making process across enterprise workflows</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endParaRPr lang="en-US" altLang="en-US" sz="1600">
              <a:latin typeface="Times New Roman" panose="02020603050405020304" charset="0"/>
              <a:cs typeface="Times New Roman" panose="02020603050405020304" charset="0"/>
            </a:endParaRPr>
          </a:p>
          <a:p>
            <a:pPr indent="0" algn="just">
              <a:lnSpc>
                <a:spcPct val="80000"/>
              </a:lnSpc>
              <a:buFont typeface="Arial" panose="020B0604020202020204" pitchFamily="34" charset="0"/>
              <a:buNone/>
            </a:pPr>
            <a:r>
              <a:rPr lang="en-US" altLang="en-US" sz="1600" b="1">
                <a:latin typeface="Times New Roman" panose="02020603050405020304" charset="0"/>
                <a:cs typeface="Times New Roman" panose="02020603050405020304" charset="0"/>
              </a:rPr>
              <a:t>Key Contributions</a:t>
            </a:r>
            <a:endParaRPr lang="en-US" altLang="en-US" sz="1600" b="1">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Design of a 5-agent architecture integrating Monitoring, Anomaly Detection, Root Cause Analysis, Decision, and Explanation agents</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Introduction of a Central Controller and Shared Memory to enable state-aware coordination and controlled execution across stages</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Implementation of statistical detection, attribution-based diagnosis, and utility-based decision ranking, combined with constrained LLM-based explanation</a:t>
            </a:r>
            <a:endParaRPr lang="en-US" altLang="en-US" sz="1600">
              <a:latin typeface="Times New Roman" panose="02020603050405020304" charset="0"/>
              <a:cs typeface="Times New Roman" panose="02020603050405020304" charset="0"/>
            </a:endParaRPr>
          </a:p>
          <a:p>
            <a:pPr indent="0" algn="just">
              <a:lnSpc>
                <a:spcPct val="8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80000"/>
              </a:lnSpc>
              <a:buFont typeface="Arial" panose="020B0604020202020204" pitchFamily="34" charset="0"/>
              <a:buNone/>
            </a:pPr>
            <a:r>
              <a:rPr lang="en-US" altLang="en-US" sz="1600" b="1">
                <a:latin typeface="Times New Roman" panose="02020603050405020304" charset="0"/>
                <a:cs typeface="Times New Roman" panose="02020603050405020304" charset="0"/>
              </a:rPr>
              <a:t>Limitations</a:t>
            </a:r>
            <a:endParaRPr lang="en-US" altLang="en-US" sz="1600" b="1">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Focused on structured numerical time-series data from enterprise analytics environments</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System behavior depends on statistical parameter settings such as rolling window size and EWMA weighting</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Handling cases with multiple contributing dimensions remains challenging due to attribution ambiguity</a:t>
            </a:r>
            <a:endParaRPr lang="en-US" altLang="en-US" sz="1600">
              <a:latin typeface="Times New Roman" panose="02020603050405020304" charset="0"/>
              <a:cs typeface="Times New Roman" panose="02020603050405020304" charset="0"/>
            </a:endParaRPr>
          </a:p>
          <a:p>
            <a:pPr indent="0" algn="just">
              <a:lnSpc>
                <a:spcPct val="80000"/>
              </a:lnSpc>
              <a:buFont typeface="Arial" panose="020B0604020202020204" pitchFamily="34" charset="0"/>
              <a:buNone/>
            </a:pPr>
            <a:endParaRPr lang="en-US" altLang="en-US" sz="1600" b="1">
              <a:latin typeface="Times New Roman" panose="02020603050405020304" charset="0"/>
              <a:cs typeface="Times New Roman" panose="02020603050405020304" charset="0"/>
            </a:endParaRPr>
          </a:p>
          <a:p>
            <a:pPr indent="0" algn="just">
              <a:lnSpc>
                <a:spcPct val="80000"/>
              </a:lnSpc>
              <a:buFont typeface="Arial" panose="020B0604020202020204" pitchFamily="34" charset="0"/>
              <a:buNone/>
            </a:pPr>
            <a:r>
              <a:rPr lang="en-US" altLang="en-US" sz="1600" b="1">
                <a:latin typeface="Times New Roman" panose="02020603050405020304" charset="0"/>
                <a:cs typeface="Times New Roman" panose="02020603050405020304" charset="0"/>
              </a:rPr>
              <a:t>Future Work</a:t>
            </a:r>
            <a:endParaRPr lang="en-US" altLang="en-US" sz="1600" b="1">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Extend evaluation with comprehensive baseline comparison and system-level validation</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Expand to real-time streaming pipelines and multi-domain enterprise data sources</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r>
              <a:rPr lang="en-US" altLang="en-US" sz="1600">
                <a:latin typeface="Times New Roman" panose="02020603050405020304" charset="0"/>
                <a:cs typeface="Times New Roman" panose="02020603050405020304" charset="0"/>
              </a:rPr>
              <a:t>Explore adaptive parameter tuning and confidence-based mechanisms for improved robustness</a:t>
            </a:r>
            <a:endParaRPr lang="en-US" altLang="en-US" sz="1600">
              <a:latin typeface="Times New Roman" panose="02020603050405020304" charset="0"/>
              <a:cs typeface="Times New Roman" panose="02020603050405020304" charset="0"/>
            </a:endParaRPr>
          </a:p>
          <a:p>
            <a:pPr marL="285750" indent="-285750" algn="just">
              <a:lnSpc>
                <a:spcPct val="80000"/>
              </a:lnSpc>
              <a:buFont typeface="Arial" panose="020B0604020202020204" pitchFamily="34" charset="0"/>
              <a:buChar char="•"/>
            </a:pPr>
            <a:endParaRPr lang="en-US" altLang="en-US" sz="1600">
              <a:latin typeface="Times New Roman" panose="02020603050405020304" charset="0"/>
              <a:cs typeface="Times New Roman" panose="02020603050405020304" charset="0"/>
            </a:endParaRPr>
          </a:p>
          <a:p>
            <a:pPr indent="0" algn="just">
              <a:lnSpc>
                <a:spcPct val="80000"/>
              </a:lnSpc>
              <a:buFont typeface="Arial" panose="020B0604020202020204" pitchFamily="34" charset="0"/>
              <a:buNone/>
            </a:pPr>
            <a:r>
              <a:rPr lang="en-US" altLang="en-US" sz="1600" b="1">
                <a:latin typeface="Times New Roman" panose="02020603050405020304" charset="0"/>
                <a:cs typeface="Times New Roman" panose="02020603050405020304" charset="0"/>
              </a:rPr>
              <a:t>The project shifts enterprise monitoring from alert generation to structured, explainable decision intelligence</a:t>
            </a:r>
            <a:endParaRPr lang="en-US" altLang="en-US" sz="1600" b="1">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圆角矩形 7"/>
          <p:cNvSpPr/>
          <p:nvPr/>
        </p:nvSpPr>
        <p:spPr>
          <a:xfrm>
            <a:off x="481330" y="300990"/>
            <a:ext cx="11362690" cy="6150610"/>
          </a:xfrm>
          <a:prstGeom prst="roundRect">
            <a:avLst>
              <a:gd name="adj" fmla="val 4703"/>
            </a:avLst>
          </a:prstGeom>
          <a:noFill/>
          <a:ln w="6350">
            <a:solidFill>
              <a:srgbClr val="4472C4"/>
            </a:solidFill>
          </a:ln>
          <a:extLst>
            <a:ext uri="{909E8E84-426E-40DD-AFC4-6F175D3DCCD1}">
              <a14:hiddenFill xmlns:a14="http://schemas.microsoft.com/office/drawing/2010/main">
                <a:solidFill>
                  <a:srgbClr val="F3F6FC"/>
                </a:solidFill>
              </a14:hiddenFill>
            </a:ext>
          </a:extLst>
        </p:spPr>
        <p:style>
          <a:lnRef idx="2">
            <a:schemeClr val="accent1"/>
          </a:lnRef>
          <a:fillRef idx="0">
            <a:srgbClr val="FFFFFF"/>
          </a:fillRef>
          <a:effectRef idx="0">
            <a:srgbClr val="FFFFFF"/>
          </a:effectRef>
          <a:fontRef idx="minor">
            <a:schemeClr val="tx1"/>
          </a:fontRef>
        </p:style>
        <p:txBody>
          <a:bodyPr rtlCol="0" anchor="ctr">
            <a:scene3d>
              <a:camera prst="orthographicFront"/>
              <a:lightRig rig="threePt" dir="t"/>
            </a:scene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gradFill>
                <a:gsLst>
                  <a:gs pos="21000">
                    <a:srgbClr val="53575C"/>
                  </a:gs>
                  <a:gs pos="88000">
                    <a:srgbClr val="C5C7CA"/>
                  </a:gs>
                </a:gsLst>
                <a:lin ang="5400000"/>
              </a:gradFill>
              <a:effectLst/>
              <a:latin typeface="Times New Roman" panose="02020603050405020304" charset="0"/>
              <a:cs typeface="Times New Roman" panose="02020603050405020304" charset="0"/>
            </a:endParaRPr>
          </a:p>
        </p:txBody>
      </p:sp>
      <p:sp>
        <p:nvSpPr>
          <p:cNvPr id="2" name="Text Box 1"/>
          <p:cNvSpPr txBox="1"/>
          <p:nvPr/>
        </p:nvSpPr>
        <p:spPr>
          <a:xfrm>
            <a:off x="3562985" y="2649855"/>
            <a:ext cx="5326380" cy="1558290"/>
          </a:xfrm>
          <a:prstGeom prst="rect">
            <a:avLst/>
          </a:prstGeom>
          <a:noFill/>
          <a:ln>
            <a:noFill/>
          </a:ln>
          <a:extLst>
            <a:ext uri="{909E8E84-426E-40DD-AFC4-6F175D3DCCD1}">
              <a14:hiddenFill xmlns:a14="http://schemas.microsoft.com/office/drawing/2010/main">
                <a:pattFill prst="pct75">
                  <a:fgClr>
                    <a:srgbClr val="4874CB"/>
                  </a:fgClr>
                  <a:bgClr>
                    <a:srgbClr val="FFFFFF"/>
                  </a:bgClr>
                </a:pattFill>
              </a14:hiddenFill>
            </a:ext>
          </a:extLst>
        </p:spPr>
        <p:txBody>
          <a:bodyPr wrap="square" rtlCol="0">
            <a:noAutofit/>
            <a:scene3d>
              <a:camera prst="orthographicFront"/>
              <a:lightRig rig="threePt" dir="t"/>
            </a:scene3d>
          </a:bodyPr>
          <a:p>
            <a:pPr algn="ctr"/>
            <a:r>
              <a:rPr lang="en-US" sz="5000" b="1">
                <a:gradFill>
                  <a:gsLst>
                    <a:gs pos="50000">
                      <a:schemeClr val="accent1"/>
                    </a:gs>
                    <a:gs pos="0">
                      <a:schemeClr val="accent1">
                        <a:lumMod val="25000"/>
                        <a:lumOff val="75000"/>
                      </a:schemeClr>
                    </a:gs>
                    <a:gs pos="100000">
                      <a:schemeClr val="accent1">
                        <a:lumMod val="85000"/>
                      </a:schemeClr>
                    </a:gs>
                  </a:gsLst>
                  <a:lin ang="5400000" scaled="1"/>
                </a:gradFill>
                <a:effectLst/>
                <a:latin typeface="Times New Roman" panose="02020603050405020304" charset="0"/>
                <a:cs typeface="Times New Roman" panose="02020603050405020304" charset="0"/>
              </a:rPr>
              <a:t>Thank You!</a:t>
            </a:r>
            <a:endParaRPr lang="en-US" sz="5000" b="1">
              <a:gradFill>
                <a:gsLst>
                  <a:gs pos="50000">
                    <a:schemeClr val="accent1"/>
                  </a:gs>
                  <a:gs pos="0">
                    <a:schemeClr val="accent1">
                      <a:lumMod val="25000"/>
                      <a:lumOff val="75000"/>
                    </a:schemeClr>
                  </a:gs>
                  <a:gs pos="100000">
                    <a:schemeClr val="accent1">
                      <a:lumMod val="85000"/>
                    </a:schemeClr>
                  </a:gs>
                </a:gsLst>
                <a:lin ang="5400000" scaled="1"/>
              </a:gradFill>
              <a:effectLst/>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DOCER_RESOURCE_TRACE_INFO" val="{&quot;id&quot;:&quot;20348550&quot;,&quot;origin&quot;:0,&quot;type&quot;:&quot;textbox&quot;,&quot;user&quot;:&quot;1667064958125&quot;}"/>
</p:tagLst>
</file>

<file path=ppt/tags/tag2.xml><?xml version="1.0" encoding="utf-8"?>
<p:tagLst xmlns:p="http://schemas.openxmlformats.org/presentationml/2006/main">
  <p:tag name="KSO_DOCER_RESOURCE_TRACE_INFO" val="{&quot;id&quot;:&quot;20348550&quot;,&quot;origin&quot;:0,&quot;type&quot;:&quot;textbox&quot;,&quot;user&quot;:&quot;1667064958125&quot;}"/>
</p:tagLst>
</file>

<file path=ppt/tags/tag3.xml><?xml version="1.0" encoding="utf-8"?>
<p:tagLst xmlns:p="http://schemas.openxmlformats.org/presentationml/2006/main">
  <p:tag name="TABLE_ENDDRAG_ORIGIN_RECT" val="424*145"/>
  <p:tag name="TABLE_ENDDRAG_RECT" val="485*214*424*145"/>
</p:tagLst>
</file>

<file path=ppt/tags/tag4.xml><?xml version="1.0" encoding="utf-8"?>
<p:tagLst xmlns:p="http://schemas.openxmlformats.org/presentationml/2006/main">
  <p:tag name="TABLE_ENDDRAG_ORIGIN_RECT" val="424*35"/>
  <p:tag name="TABLE_ENDDRAG_RECT" val="485*365*424*35"/>
</p:tagLst>
</file>

<file path=ppt/tags/tag5.xml><?xml version="1.0" encoding="utf-8"?>
<p:tagLst xmlns:p="http://schemas.openxmlformats.org/presentationml/2006/main">
  <p:tag name="KSO_DOCER_RESOURCE_TRACE_INFO" val="{&quot;id&quot;:&quot;20348550&quot;,&quot;origin&quot;:0,&quot;type&quot;:&quot;textbox&quot;,&quot;user&quot;:&quot;1667064958125&quot;}"/>
</p:tagLst>
</file>

<file path=ppt/tags/tag6.xml><?xml version="1.0" encoding="utf-8"?>
<p:tagLst xmlns:p="http://schemas.openxmlformats.org/presentationml/2006/main">
  <p:tag name="resource_record_key" val="{&quot;19&quot;:[20348550],&quot;29&quot;:[50000077,50000097,50000283,50000153,50000140,50000193]}"/>
</p:tagLst>
</file>

<file path=ppt/theme/theme1.xml><?xml version="1.0" encoding="utf-8"?>
<a:theme xmlns:a="http://schemas.openxmlformats.org/drawingml/2006/main" name="Office Theme">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10589</Words>
  <Application>WPS Presentation</Application>
  <PresentationFormat>Widescreen</PresentationFormat>
  <Paragraphs>227</Paragraphs>
  <Slides>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Arial</vt:lpstr>
      <vt:lpstr>SimSun</vt:lpstr>
      <vt:lpstr>Wingdings</vt:lpstr>
      <vt:lpstr>Times New Roman</vt:lpstr>
      <vt:lpstr>Times New Roman</vt:lpstr>
      <vt:lpstr>Arial</vt:lpstr>
      <vt:lpstr>Microsoft YaHei</vt:lpstr>
      <vt:lpstr>Calibri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amuly</dc:creator>
  <cp:lastModifiedBy>Amulya N Raj</cp:lastModifiedBy>
  <cp:revision>15</cp:revision>
  <dcterms:created xsi:type="dcterms:W3CDTF">2025-07-23T00:59:00Z</dcterms:created>
  <dcterms:modified xsi:type="dcterms:W3CDTF">2026-04-14T01:01:23Z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A3241283BC2C49CC819316CED2B8B694_13</vt:lpwstr>
  </property>
  <property fmtid="{D5CDD505-2E9C-101B-9397-08002B2CF9AE}" pid="3" name="KSOProductBuildVer">
    <vt:lpwstr>1033-12.1.0.25242</vt:lpwstr>
  </property>
</Properties>
</file>